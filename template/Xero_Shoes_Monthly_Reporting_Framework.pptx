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ED2B10-7392-4561-AAA8-4489115274EC}">
  <a:tblStyle styleId="{CEED2B10-7392-4561-AAA8-4489115274E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Cover slide. Replace [Month YYYY] and the reporting period. Swap the XERO SHOES text wordmark for the client's official logo PNG/SVG when you have the asset file.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Agenda. Trim sections that don't apply in a given month. The Data Sources panel doubles as a reminder of which connections feed the linked Sheet.</a:t>
            </a:r>
            <a:endParaRPr/>
          </a:p>
        </p:txBody>
      </p:sp>
      <p:sp>
        <p:nvSpPr>
          <p:cNvPr id="158" name="Google Shape;1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Executive summary. Fill the four stat cards from the blended table before writing the narrative so the numbers agree.</a:t>
            </a:r>
            <a:endParaRPr/>
          </a:p>
        </p:txBody>
      </p:sp>
      <p:sp>
        <p:nvSpPr>
          <p:cNvPr id="290" name="Google Shape;2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Blended performance. This is the anchor table — every other slide should reconcile back to it. Paste the linked Sheets range over this table each month.</a:t>
            </a:r>
            <a:endParaRPr/>
          </a:p>
        </p:txBody>
      </p:sp>
      <p:sp>
        <p:nvSpPr>
          <p:cNvPr id="417" name="Google Shape;4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 vs. Shopping split. Keep the column order identical to the blended table so linked ranges can be reused.</a:t>
            </a:r>
            <a:endParaRPr/>
          </a:p>
        </p:txBody>
      </p:sp>
      <p:sp>
        <p:nvSpPr>
          <p:cNvPr id="524" name="Google Shape;5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Brand vs. Non-Brand for text search. Label-based segmentation in the MCC reporting script feeds these rows.</a:t>
            </a:r>
            <a:endParaRPr/>
          </a:p>
        </p:txBody>
      </p:sp>
      <p:sp>
        <p:nvSpPr>
          <p:cNvPr id="634" name="Google Shape;6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Brand vs. Non-Brand for shopping/PMax. Note the PMax vs. Standard Shopping CPC comparison — useful when defending budget shifts.</a:t>
            </a:r>
            <a:endParaRPr/>
          </a:p>
        </p:txBody>
      </p:sp>
      <p:sp>
        <p:nvSpPr>
          <p:cNvPr id="744" name="Google Shape;7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 category performance. Sorted descending by conversion value. Trim or extend rows to match the client's category depth.</a:t>
            </a:r>
            <a:endParaRPr/>
          </a:p>
        </p:txBody>
      </p:sp>
      <p:sp>
        <p:nvSpPr>
          <p:cNvPr id="854" name="Google Shape;8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Brand competition. The line chart is native PowerPoint with SAMPLE data so the layout reads correctly — replace the data or paste a linked Sheets chart over it.</a:t>
            </a:r>
            <a:endParaRPr/>
          </a:p>
        </p:txBody>
      </p:sp>
      <p:sp>
        <p:nvSpPr>
          <p:cNvPr id="965" name="Google Shape;9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5" name="Google Shape;10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PMax search categories. Pull from the Performance Max Insights report; each row expands in-platform but export the top level only.</a:t>
            </a:r>
            <a:endParaRPr/>
          </a:p>
        </p:txBody>
      </p:sp>
      <p:sp>
        <p:nvSpPr>
          <p:cNvPr id="1076" name="Google Shape;10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PMax top products. Screenshot the shopping ad units or pull product imagery from the feed. Card 1 is highlighted as the top revenue driver.</a:t>
            </a:r>
            <a:endParaRPr/>
          </a:p>
        </p:txBody>
      </p:sp>
      <p:sp>
        <p:nvSpPr>
          <p:cNvPr id="1187" name="Google Shape;11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6" name="Google Shape;1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Promotion recap. Duplicate this slide for each promo window in the month. If there was no promo, delete the slide.</a:t>
            </a:r>
            <a:endParaRPr/>
          </a:p>
        </p:txBody>
      </p:sp>
      <p:sp>
        <p:nvSpPr>
          <p:cNvPr id="1327" name="Google Shape;1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ChatGPT Ads placeholder. Column set is intentionally lighter than Google since platform reporting is thinner. Attribution comes through the Triple Whale OpenAI channel.</a:t>
            </a:r>
            <a:endParaRPr/>
          </a:p>
        </p:txBody>
      </p:sp>
      <p:sp>
        <p:nvSpPr>
          <p:cNvPr id="1439" name="Google Shape;14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steps. Keep this to four items max — it should match the Next Month Focus block on the executive summary.</a:t>
            </a:r>
            <a:endParaRPr/>
          </a:p>
        </p:txBody>
      </p:sp>
      <p:sp>
        <p:nvSpPr>
          <p:cNvPr id="1554" name="Google Shape;15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9" name="Google Shape;16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Update the account team names and contact details.</a:t>
            </a:r>
            <a:endParaRPr/>
          </a:p>
        </p:txBody>
      </p:sp>
      <p:sp>
        <p:nvSpPr>
          <p:cNvPr id="1690" name="Google Shape;16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86384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04672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41248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59536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77824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96112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400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32688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50976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69264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87552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05840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24128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042416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060704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078992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097280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115568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133856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152144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1704320" y="457200"/>
            <a:ext cx="50292" cy="50292"/>
          </a:xfrm>
          <a:prstGeom prst="ellipse">
            <a:avLst/>
          </a:prstGeom>
          <a:solidFill>
            <a:srgbClr val="20B6F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786384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804672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2960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41248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59536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77824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96112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914400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932688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950976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969264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987552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005840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024128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042416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60704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078992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097280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15568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133856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152144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1704320" y="640080"/>
            <a:ext cx="50292" cy="50292"/>
          </a:xfrm>
          <a:prstGeom prst="ellipse">
            <a:avLst/>
          </a:prstGeom>
          <a:solidFill>
            <a:srgbClr val="20B6F3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86384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04672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22960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41248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59536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77824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96112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14400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32688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50976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69264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87552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005840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024128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042416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060704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078992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097280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115568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133856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152144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1704320" y="822960"/>
            <a:ext cx="50292" cy="50292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86384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04672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22960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41248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59536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77824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896112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914400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32688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950976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69264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987552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005840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024128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042416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060704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078992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097280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1115568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133856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152144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1704320" y="1005840"/>
            <a:ext cx="50292" cy="50292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86384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804672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822960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41248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59536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77824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96112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914400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932688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50976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969264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987552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005840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1024128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1042416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060704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1078992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1097280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1115568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133856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152144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1704320" y="1188720"/>
            <a:ext cx="50292" cy="50292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86384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804672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822960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841248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859536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877824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896112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914400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932688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950976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969264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987552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005840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1024128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1042416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1060704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1078992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1097280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1115568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1133856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1152144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11704320" y="137160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685800" y="18745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3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85800" y="260604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Monthly Performance Review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85800" y="34564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B6F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Paid Media  ·  [Month YYYY]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713232" y="4069080"/>
            <a:ext cx="1005840" cy="18288"/>
          </a:xfrm>
          <a:prstGeom prst="rect">
            <a:avLst/>
          </a:prstGeom>
          <a:solidFill>
            <a:srgbClr val="20B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13232" y="426110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C82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F7C82"/>
                </a:solidFill>
                <a:latin typeface="Arial"/>
                <a:ea typeface="Arial"/>
                <a:cs typeface="Arial"/>
                <a:sym typeface="Arial"/>
              </a:rPr>
              <a:t>PREPARED BY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white.png" id="153" name="Google Shape;1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553712"/>
            <a:ext cx="2286000" cy="845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/>
          <p:nvPr/>
        </p:nvSpPr>
        <p:spPr>
          <a:xfrm>
            <a:off x="685800" y="5989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Reporting period: [MM/DD/YY – MM/DD/YY]   |   Prepared: [MM/DD/YY]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Monthly Review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502920" y="114300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5029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1280160" y="11612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1280160" y="1435608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Headline results, spend, revenue and efficiency vs.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502920" y="1892808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502920" y="18928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1280160" y="19110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Blended Paid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1280160" y="2185416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Total program performance, engine vs. Triple Whale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502920" y="2642616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502920" y="26426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1280160" y="26609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Search &amp; Shopping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1280160" y="2935224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Channel splits and brand vs. non-brand detail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502920" y="3392424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502920" y="339242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1280160" y="34107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Product &amp; Category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1280160" y="368503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Top revenue drivers and category-level efficiency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502920" y="4142232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502920" y="41422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1280160" y="4160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Competitive Landscape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1280160" y="4434840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Auction insights and brand impression share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502920" y="48920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502920" y="48920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280160" y="49103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Promotions &amp; Emerging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1280160" y="5184648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Promo recap, PMax highlights, ChatGPT Ads 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8686800" y="1143000"/>
            <a:ext cx="3017520" cy="4114800"/>
          </a:xfrm>
          <a:prstGeom prst="roundRect">
            <a:avLst>
              <a:gd fmla="val 1818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8887968" y="1325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8887968" y="1691640"/>
            <a:ext cx="26517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Google Ads (engine)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Microsoft Ads (engine)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Triple Whale (attributed)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GA4 (onsite behavior)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Shopify (orders / AOV)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6F7074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OpenAI Ads (test channel)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8887968" y="397764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All tables in this deck are placeholders and are refreshed from the linked Google Sheet each cycle.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Monthly Review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293" name="Google Shape;2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"/>
          <p:cNvSpPr/>
          <p:nvPr/>
        </p:nvSpPr>
        <p:spPr>
          <a:xfrm>
            <a:off x="457200" y="1051560"/>
            <a:ext cx="2743200" cy="1371600"/>
          </a:xfrm>
          <a:prstGeom prst="roundRect">
            <a:avLst>
              <a:gd fmla="val 4000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658368" y="118872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TOTAL SPEND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5"/>
          <p:cNvSpPr/>
          <p:nvPr/>
        </p:nvSpPr>
        <p:spPr>
          <a:xfrm>
            <a:off x="658368" y="1426464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"/>
          <p:cNvSpPr/>
          <p:nvPr/>
        </p:nvSpPr>
        <p:spPr>
          <a:xfrm>
            <a:off x="658368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— % MoM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3328416" y="1051560"/>
            <a:ext cx="2743200" cy="1371600"/>
          </a:xfrm>
          <a:prstGeom prst="roundRect">
            <a:avLst>
              <a:gd fmla="val 4000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3529584" y="118872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TW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"/>
          <p:cNvSpPr/>
          <p:nvPr/>
        </p:nvSpPr>
        <p:spPr>
          <a:xfrm>
            <a:off x="3529584" y="1426464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"/>
          <p:cNvSpPr/>
          <p:nvPr/>
        </p:nvSpPr>
        <p:spPr>
          <a:xfrm>
            <a:off x="3529584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— % MoM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6199632" y="1051560"/>
            <a:ext cx="2743200" cy="1371600"/>
          </a:xfrm>
          <a:prstGeom prst="roundRect">
            <a:avLst>
              <a:gd fmla="val 4000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6400800" y="118872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BLENDED ROAS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6400800" y="1426464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—x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640080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— % MoM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9070848" y="1051560"/>
            <a:ext cx="2743200" cy="1371600"/>
          </a:xfrm>
          <a:prstGeom prst="roundRect">
            <a:avLst>
              <a:gd fmla="val 4000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9272016" y="118872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TW ORDERS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9272016" y="1426464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9272016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— % MoM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502920" y="274320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What Drove the Month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"/>
          <p:cNvSpPr/>
          <p:nvPr/>
        </p:nvSpPr>
        <p:spPr>
          <a:xfrm>
            <a:off x="502920" y="3108960"/>
            <a:ext cx="6949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[Headline #1 — the single biggest driver of revenue change MoM]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[Supporting detail: budget shift, seasonality, promo, or competitive change]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[Headline #2 — efficiency story: what happened to CPC, CVR and AOV]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[Supporting detail: which tactic or campaign type moved the needle]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[Headline #3 — new tests in market this month, including ChatGPT Ads]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"/>
          <p:cNvSpPr/>
          <p:nvPr/>
        </p:nvSpPr>
        <p:spPr>
          <a:xfrm>
            <a:off x="7818120" y="2743200"/>
            <a:ext cx="3886200" cy="3063240"/>
          </a:xfrm>
          <a:prstGeom prst="roundRect">
            <a:avLst>
              <a:gd fmla="val 1791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"/>
          <p:cNvSpPr/>
          <p:nvPr/>
        </p:nvSpPr>
        <p:spPr>
          <a:xfrm>
            <a:off x="8019288" y="2944368"/>
            <a:ext cx="3483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Watch 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8019288" y="3218688"/>
            <a:ext cx="34838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[Risks, pacing gaps, feed or tracking issues to flag to the client]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"/>
          <p:cNvSpPr/>
          <p:nvPr/>
        </p:nvSpPr>
        <p:spPr>
          <a:xfrm>
            <a:off x="8019288" y="4379976"/>
            <a:ext cx="3483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Next Month Focus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"/>
          <p:cNvSpPr/>
          <p:nvPr/>
        </p:nvSpPr>
        <p:spPr>
          <a:xfrm>
            <a:off x="8019288" y="4654296"/>
            <a:ext cx="34838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[Top 3 priorities carried into next cycle — keep these consistent with the Next Steps slide]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Blended Performance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420" name="Google Shape;4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6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6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6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6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6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6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6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6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6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8" name="Google Shape;518;p6"/>
          <p:cNvGraphicFramePr/>
          <p:nvPr/>
        </p:nvGraphicFramePr>
        <p:xfrm>
          <a:off x="41148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10515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  <a:gridCol w="7380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519" name="Google Shape;519;p6"/>
          <p:cNvSpPr/>
          <p:nvPr/>
        </p:nvSpPr>
        <p:spPr>
          <a:xfrm>
            <a:off x="502920" y="2788920"/>
            <a:ext cx="111556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MoM, Triple Whale revenue was [up/down] —% at a $— ROAS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[Primary catalyst: budget, demand, promo cadence, or creative refresh]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[CPC / competitive commentary — where auction pressure eased or intensified]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YoY, revenue was [up/down] —% on —% [more/less] spend, with [AOV/CVR] [mitigating/amplifying] CPC movement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[Which tactics carried the YoY growth: search vs. shopping, brand vs. non-brand]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"/>
          <p:cNvSpPr/>
          <p:nvPr/>
        </p:nvSpPr>
        <p:spPr>
          <a:xfrm>
            <a:off x="457200" y="58978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Engine data: Google Ads + Microsoft Ads.  Attributed data: Triple Whale.  Table refreshed from linked Google Sheet.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Search &amp; Shopping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527" name="Google Shape;5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7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7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7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7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7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7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7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7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7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7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7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7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7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7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7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7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7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7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7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7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7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7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7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7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7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7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7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7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7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7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7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7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7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7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7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7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7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7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7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7"/>
          <p:cNvSpPr/>
          <p:nvPr/>
        </p:nvSpPr>
        <p:spPr>
          <a:xfrm>
            <a:off x="411480" y="1005840"/>
            <a:ext cx="5669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6" name="Google Shape;626;p7"/>
          <p:cNvGraphicFramePr/>
          <p:nvPr/>
        </p:nvGraphicFramePr>
        <p:xfrm>
          <a:off x="10515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914400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627" name="Google Shape;627;p7"/>
          <p:cNvSpPr/>
          <p:nvPr/>
        </p:nvSpPr>
        <p:spPr>
          <a:xfrm>
            <a:off x="411480" y="2395728"/>
            <a:ext cx="5669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Shopping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Google Shape;628;p7"/>
          <p:cNvGraphicFramePr/>
          <p:nvPr/>
        </p:nvGraphicFramePr>
        <p:xfrm>
          <a:off x="105156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914400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629" name="Google Shape;629;p7"/>
          <p:cNvSpPr/>
          <p:nvPr/>
        </p:nvSpPr>
        <p:spPr>
          <a:xfrm>
            <a:off x="502920" y="3886200"/>
            <a:ext cx="111556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Search drove — orders and $— in revenue, [up/down] —% and —% MoM respectively, at a $— ROAS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[CPC, AOV and CVR interaction — which offset which, and across which tactics]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Shopping drove —% [more/less] revenue MoM, largely in response to [budget allocation / feed change / promo]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[Where CPCs moved and whether it was enough to offset CVR movement]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[AOV driver — which product categories skewed basket size]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7"/>
          <p:cNvSpPr/>
          <p:nvPr/>
        </p:nvSpPr>
        <p:spPr>
          <a:xfrm>
            <a:off x="457200" y="58978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Engine + Triple Whale.  Search = text campaigns.  Shopping = Standard Shopping + PMax retail.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Search: Brand vs. Non-Brand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637" name="Google Shape;6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8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8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8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8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8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8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8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8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8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8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8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8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8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8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8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8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8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8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8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8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8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8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8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8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8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8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8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8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8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8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8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8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8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8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8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8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8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8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8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8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8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8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8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8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8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8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8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8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8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8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8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8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8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8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8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8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8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8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8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8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8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8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8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8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8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8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8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8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8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8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8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8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8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8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8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8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8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8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8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8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8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8"/>
          <p:cNvSpPr/>
          <p:nvPr/>
        </p:nvSpPr>
        <p:spPr>
          <a:xfrm>
            <a:off x="411480" y="1005840"/>
            <a:ext cx="5669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Brand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6" name="Google Shape;736;p8"/>
          <p:cNvGraphicFramePr/>
          <p:nvPr/>
        </p:nvGraphicFramePr>
        <p:xfrm>
          <a:off x="10515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914400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737" name="Google Shape;737;p8"/>
          <p:cNvSpPr/>
          <p:nvPr/>
        </p:nvSpPr>
        <p:spPr>
          <a:xfrm>
            <a:off x="411480" y="2395728"/>
            <a:ext cx="5669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Non-Brand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8" name="Google Shape;738;p8"/>
          <p:cNvGraphicFramePr/>
          <p:nvPr/>
        </p:nvGraphicFramePr>
        <p:xfrm>
          <a:off x="105156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914400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739" name="Google Shape;739;p8"/>
          <p:cNvSpPr/>
          <p:nvPr/>
        </p:nvSpPr>
        <p:spPr>
          <a:xfrm>
            <a:off x="502920" y="3886200"/>
            <a:ext cx="1115568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MoM, brand search revenue was [up/down] —%, driven by [demand change] and [onsite CVR]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[CPC and AOV commentary] drove [more/less] efficient spend, at a $— ROAS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[Competitor name] was [more/less] competitive on brand terms, moving from —% to —% impression share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Pure brand term [xero shoes] drove ~—% of total brand revenue in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Non-brand spend was [up/down] —% MoM, with clicks [up/down] —%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[Top non-brand themes — category, competitor conquesting, problem/solution queries]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[Notable new query growth worth building out into its own ad group]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8"/>
          <p:cNvSpPr/>
          <p:nvPr/>
        </p:nvSpPr>
        <p:spPr>
          <a:xfrm>
            <a:off x="457200" y="58978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Segmentation via campaign labels: Brand / Non-Brand / Competitor.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Shopping: Brand vs. Non-Brand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747" name="Google Shape;7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9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9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9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9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9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9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9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9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9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9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9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9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9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9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9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9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9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9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9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9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9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9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9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9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9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9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9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9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9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9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9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9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9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9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9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9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9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9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9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9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9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9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9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9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9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9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9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9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9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9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9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9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9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9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9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9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9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9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9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9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9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9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9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9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9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9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9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9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9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9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9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9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9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9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9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9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9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9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9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9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9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9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9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9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9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9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9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9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9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9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9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9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9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9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9"/>
          <p:cNvSpPr/>
          <p:nvPr/>
        </p:nvSpPr>
        <p:spPr>
          <a:xfrm>
            <a:off x="411480" y="1005840"/>
            <a:ext cx="5669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Brand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6" name="Google Shape;846;p9"/>
          <p:cNvGraphicFramePr/>
          <p:nvPr/>
        </p:nvGraphicFramePr>
        <p:xfrm>
          <a:off x="105156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914400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847" name="Google Shape;847;p9"/>
          <p:cNvSpPr/>
          <p:nvPr/>
        </p:nvSpPr>
        <p:spPr>
          <a:xfrm>
            <a:off x="411480" y="2395728"/>
            <a:ext cx="5669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Non-Brand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8" name="Google Shape;848;p9"/>
          <p:cNvGraphicFramePr/>
          <p:nvPr/>
        </p:nvGraphicFramePr>
        <p:xfrm>
          <a:off x="105156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914400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Orders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50"/>
                        <a:buFont typeface="Arial"/>
                        <a:buNone/>
                      </a:pPr>
                      <a:r>
                        <a:rPr b="1" lang="en-US" sz="6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6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849" name="Google Shape;849;p9"/>
          <p:cNvSpPr/>
          <p:nvPr/>
        </p:nvSpPr>
        <p:spPr>
          <a:xfrm>
            <a:off x="502920" y="3886200"/>
            <a:ext cx="1115568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Overall, shopping revenue was [up/down] —% MoM on —% [higher/lower] investment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Brand shopping revenue was [up/down] —% on —% [more/fewer] orders, with AOV [up/down] —%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Brand drove —% of total shopping revenue, vs. —% last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[PMax vs. Standard Shopping CPC comparison — $— vs. $—]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Non-brand shopping drove —% of total shopping revenue, at $— (—% MoM)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[Top performing product group / AOV tier and its revenue contribution]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[Geo or feed-segment callout — e.g. INTL PMax ROAS vs. domestic]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9"/>
          <p:cNvSpPr/>
          <p:nvPr/>
        </p:nvSpPr>
        <p:spPr>
          <a:xfrm>
            <a:off x="457200" y="58978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Includes Standard Shopping and Performance Max retail campaigns.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0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Product Category Performance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857" name="Google Shape;8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10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0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0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0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0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0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0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0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0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0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0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0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0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0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0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0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0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0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0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0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0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0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0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0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0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0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0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0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0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0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0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0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0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0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0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0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0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0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0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0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0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0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0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0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0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0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0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0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0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0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0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0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0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0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0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0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0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0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0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0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0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0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0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0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0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0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0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0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0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0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0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0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0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0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0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0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0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0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0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0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0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0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0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0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0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0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0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0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0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0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0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0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0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0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0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0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0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5" name="Google Shape;955;p10"/>
          <p:cNvGraphicFramePr/>
          <p:nvPr/>
        </p:nvGraphicFramePr>
        <p:xfrm>
          <a:off x="41148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1234450"/>
                <a:gridCol w="1234450"/>
                <a:gridCol w="757650"/>
                <a:gridCol w="757650"/>
                <a:gridCol w="757650"/>
                <a:gridCol w="757650"/>
                <a:gridCol w="757650"/>
                <a:gridCol w="757650"/>
                <a:gridCol w="7576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Type (1st)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Type (2nd)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Avg. CPC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Conv. Value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ROAS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2]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2]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3]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3]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4]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4]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5]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5]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6]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6]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7]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7]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8]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8]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9]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9]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10]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10]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11]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11]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12]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12]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13]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13]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14]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14]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15]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15]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[Category 16]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[Sub-category 16]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956" name="Google Shape;956;p10"/>
          <p:cNvSpPr/>
          <p:nvPr/>
        </p:nvSpPr>
        <p:spPr>
          <a:xfrm>
            <a:off x="8458200" y="1005840"/>
            <a:ext cx="3291840" cy="4206240"/>
          </a:xfrm>
          <a:prstGeom prst="roundRect">
            <a:avLst>
              <a:gd fmla="val 1667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0"/>
          <p:cNvSpPr/>
          <p:nvPr/>
        </p:nvSpPr>
        <p:spPr>
          <a:xfrm>
            <a:off x="8659368" y="1207008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0"/>
          <p:cNvSpPr/>
          <p:nvPr/>
        </p:nvSpPr>
        <p:spPr>
          <a:xfrm>
            <a:off x="8659368" y="1481328"/>
            <a:ext cx="28895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[Which categories accounted for the majority of shopping revenue this month, and how that share shifted]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0"/>
          <p:cNvSpPr/>
          <p:nvPr/>
        </p:nvSpPr>
        <p:spPr>
          <a:xfrm>
            <a:off x="8659368" y="328269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0"/>
          <p:cNvSpPr/>
          <p:nvPr/>
        </p:nvSpPr>
        <p:spPr>
          <a:xfrm>
            <a:off x="8659368" y="3557016"/>
            <a:ext cx="28895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[Structural recommendation — e.g. segment top sellers into their own campaign or AOV tier]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0"/>
          <p:cNvSpPr/>
          <p:nvPr/>
        </p:nvSpPr>
        <p:spPr>
          <a:xfrm>
            <a:off x="457200" y="54406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*Engine data. Sorted by conversion value, top 16 sub-categories.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1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Brand Competition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968" name="Google Shape;9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11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1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1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1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1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1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1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1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1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1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1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1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1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1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1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1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1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1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1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1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1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1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1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1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1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1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1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1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1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1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1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1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11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1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1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11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1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1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1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1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1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1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11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1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1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1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1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1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11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1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1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1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11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1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11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1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1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1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1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1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1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1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1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1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11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11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1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1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1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1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1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1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1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1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1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1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1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11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1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1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1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1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1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1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1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1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1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1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1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1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1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1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1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1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1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1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1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6" name="Google Shape;10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97280"/>
            <a:ext cx="77724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11"/>
          <p:cNvSpPr/>
          <p:nvPr/>
        </p:nvSpPr>
        <p:spPr>
          <a:xfrm>
            <a:off x="8458200" y="1097280"/>
            <a:ext cx="3291840" cy="4023360"/>
          </a:xfrm>
          <a:prstGeom prst="roundRect">
            <a:avLst>
              <a:gd fmla="val 1667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1"/>
          <p:cNvSpPr/>
          <p:nvPr/>
        </p:nvSpPr>
        <p:spPr>
          <a:xfrm>
            <a:off x="8659368" y="1298448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11"/>
          <p:cNvSpPr/>
          <p:nvPr/>
        </p:nvSpPr>
        <p:spPr>
          <a:xfrm>
            <a:off x="8659368" y="1572768"/>
            <a:ext cx="28895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[Xero Shoes owned —% brand impression share this period, vs. —% prior. Note any phrase-match variations pulling overall IS down while pure brand holds.]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1"/>
          <p:cNvSpPr/>
          <p:nvPr/>
        </p:nvSpPr>
        <p:spPr>
          <a:xfrm>
            <a:off x="8659368" y="332841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Competitive Movement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1"/>
          <p:cNvSpPr/>
          <p:nvPr/>
        </p:nvSpPr>
        <p:spPr>
          <a:xfrm>
            <a:off x="8659368" y="3602736"/>
            <a:ext cx="28895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[Which competitors increased or pulled back, and when in the month it happened.]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1"/>
          <p:cNvSpPr/>
          <p:nvPr/>
        </p:nvSpPr>
        <p:spPr>
          <a:xfrm>
            <a:off x="457200" y="48463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Auction Insights — brand campaign impression share. Chart contains sample data; replace with the linked Sheets chart.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2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Top PMax Search Categories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1079" name="Google Shape;10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12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2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2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2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2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2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2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2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2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2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12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2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12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2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2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2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2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2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2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2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2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12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12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12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12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2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12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12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2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2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12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2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2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2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2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2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2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2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2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2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12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12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2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2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2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2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2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2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2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2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2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2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2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2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2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2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2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2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2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2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2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2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12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2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2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2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12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2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12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12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12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2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2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2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2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2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2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2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2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2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2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2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2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2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2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2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2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2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2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2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2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2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12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2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12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2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12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7" name="Google Shape;1177;p12"/>
          <p:cNvGraphicFramePr/>
          <p:nvPr/>
        </p:nvGraphicFramePr>
        <p:xfrm>
          <a:off x="41148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2011675"/>
                <a:gridCol w="822950"/>
                <a:gridCol w="822950"/>
                <a:gridCol w="822950"/>
                <a:gridCol w="822950"/>
                <a:gridCol w="822950"/>
                <a:gridCol w="822950"/>
                <a:gridCol w="8229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 Category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 Volume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Conv. Value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Conv. Rate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2]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3]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4]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5]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6]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7]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8]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9]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10]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11]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12]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13]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14]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15]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[Search category 16]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1178" name="Google Shape;1178;p12"/>
          <p:cNvSpPr/>
          <p:nvPr/>
        </p:nvSpPr>
        <p:spPr>
          <a:xfrm>
            <a:off x="8458200" y="1005840"/>
            <a:ext cx="3291840" cy="4206240"/>
          </a:xfrm>
          <a:prstGeom prst="roundRect">
            <a:avLst>
              <a:gd fmla="val 1667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12"/>
          <p:cNvSpPr/>
          <p:nvPr/>
        </p:nvSpPr>
        <p:spPr>
          <a:xfrm>
            <a:off x="8659368" y="1207008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2"/>
          <p:cNvSpPr/>
          <p:nvPr/>
        </p:nvSpPr>
        <p:spPr>
          <a:xfrm>
            <a:off x="8659368" y="1481328"/>
            <a:ext cx="28895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[Where PMax search volume grew or contracted — branded terms vs. competitor terms vs. category terms]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12"/>
          <p:cNvSpPr/>
          <p:nvPr/>
        </p:nvSpPr>
        <p:spPr>
          <a:xfrm>
            <a:off x="8659368" y="328269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Where Value Grew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12"/>
          <p:cNvSpPr/>
          <p:nvPr/>
        </p:nvSpPr>
        <p:spPr>
          <a:xfrm>
            <a:off x="8659368" y="3557016"/>
            <a:ext cx="28895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[Categories with the largest conversion value gains and how they map to onsite activity or promos]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12"/>
          <p:cNvSpPr/>
          <p:nvPr/>
        </p:nvSpPr>
        <p:spPr>
          <a:xfrm>
            <a:off x="457200" y="54406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*Engine data. PMax search category insights, sorted by conversions.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3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Performance Max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Top Products by Revenue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1190" name="Google Shape;11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13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13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13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3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3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3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3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3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3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3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3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3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3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3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3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3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3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3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3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3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3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13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13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13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13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13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13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13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3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3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13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3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3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13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3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13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3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3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3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3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3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3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3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3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3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13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3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3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13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13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3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3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3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13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3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3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3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3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3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3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3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3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3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3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3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3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3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3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13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3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3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3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13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13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3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3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3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13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3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3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3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3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3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3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3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3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3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3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3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3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3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3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3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3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3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3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3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13"/>
          <p:cNvSpPr/>
          <p:nvPr/>
        </p:nvSpPr>
        <p:spPr>
          <a:xfrm>
            <a:off x="502920" y="1051560"/>
            <a:ext cx="2148840" cy="2377440"/>
          </a:xfrm>
          <a:prstGeom prst="roundRect">
            <a:avLst>
              <a:gd fmla="val 2128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3"/>
          <p:cNvSpPr/>
          <p:nvPr/>
        </p:nvSpPr>
        <p:spPr>
          <a:xfrm>
            <a:off x="502920" y="105156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13"/>
          <p:cNvSpPr/>
          <p:nvPr/>
        </p:nvSpPr>
        <p:spPr>
          <a:xfrm>
            <a:off x="502920" y="3566160"/>
            <a:ext cx="2148840" cy="1965960"/>
          </a:xfrm>
          <a:prstGeom prst="roundRect">
            <a:avLst>
              <a:gd fmla="val 2791" name="adj"/>
            </a:avLst>
          </a:prstGeom>
          <a:solidFill>
            <a:srgbClr val="0A7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3"/>
          <p:cNvSpPr/>
          <p:nvPr/>
        </p:nvSpPr>
        <p:spPr>
          <a:xfrm>
            <a:off x="649224" y="3730752"/>
            <a:ext cx="1856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[Product Name 1]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3"/>
          <p:cNvSpPr/>
          <p:nvPr/>
        </p:nvSpPr>
        <p:spPr>
          <a:xfrm>
            <a:off x="649224" y="437083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7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FE7F8"/>
                </a:solidFill>
                <a:latin typeface="Arial"/>
                <a:ea typeface="Arial"/>
                <a:cs typeface="Arial"/>
                <a:sym typeface="Arial"/>
              </a:rPr>
              <a:t>Orders 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13"/>
          <p:cNvSpPr/>
          <p:nvPr/>
        </p:nvSpPr>
        <p:spPr>
          <a:xfrm>
            <a:off x="649224" y="464515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7F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FE7F8"/>
                </a:solidFill>
                <a:latin typeface="Arial"/>
                <a:ea typeface="Arial"/>
                <a:cs typeface="Arial"/>
                <a:sym typeface="Arial"/>
              </a:rPr>
              <a:t>Revenue 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13"/>
          <p:cNvSpPr/>
          <p:nvPr/>
        </p:nvSpPr>
        <p:spPr>
          <a:xfrm>
            <a:off x="649224" y="507492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7F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FE7F8"/>
                </a:solidFill>
                <a:latin typeface="Arial"/>
                <a:ea typeface="Arial"/>
                <a:cs typeface="Arial"/>
                <a:sym typeface="Arial"/>
              </a:rPr>
              <a:t>TOP REVENUE DRIVER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13"/>
          <p:cNvSpPr/>
          <p:nvPr/>
        </p:nvSpPr>
        <p:spPr>
          <a:xfrm>
            <a:off x="2761488" y="1051560"/>
            <a:ext cx="2148840" cy="2377440"/>
          </a:xfrm>
          <a:prstGeom prst="roundRect">
            <a:avLst>
              <a:gd fmla="val 2128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3"/>
          <p:cNvSpPr/>
          <p:nvPr/>
        </p:nvSpPr>
        <p:spPr>
          <a:xfrm>
            <a:off x="2761488" y="105156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13"/>
          <p:cNvSpPr/>
          <p:nvPr/>
        </p:nvSpPr>
        <p:spPr>
          <a:xfrm>
            <a:off x="2761488" y="3566160"/>
            <a:ext cx="2148840" cy="1965960"/>
          </a:xfrm>
          <a:prstGeom prst="roundRect">
            <a:avLst>
              <a:gd fmla="val 2791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3"/>
          <p:cNvSpPr/>
          <p:nvPr/>
        </p:nvSpPr>
        <p:spPr>
          <a:xfrm>
            <a:off x="2907792" y="3730752"/>
            <a:ext cx="1856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[Product Name 2]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13"/>
          <p:cNvSpPr/>
          <p:nvPr/>
        </p:nvSpPr>
        <p:spPr>
          <a:xfrm>
            <a:off x="2907792" y="437083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Orders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13"/>
          <p:cNvSpPr/>
          <p:nvPr/>
        </p:nvSpPr>
        <p:spPr>
          <a:xfrm>
            <a:off x="2907792" y="464515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Revenue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3"/>
          <p:cNvSpPr/>
          <p:nvPr/>
        </p:nvSpPr>
        <p:spPr>
          <a:xfrm>
            <a:off x="2907792" y="507492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3"/>
          <p:cNvSpPr/>
          <p:nvPr/>
        </p:nvSpPr>
        <p:spPr>
          <a:xfrm>
            <a:off x="5020056" y="1051560"/>
            <a:ext cx="2148840" cy="2377440"/>
          </a:xfrm>
          <a:prstGeom prst="roundRect">
            <a:avLst>
              <a:gd fmla="val 2128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3"/>
          <p:cNvSpPr/>
          <p:nvPr/>
        </p:nvSpPr>
        <p:spPr>
          <a:xfrm>
            <a:off x="5020056" y="105156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3"/>
          <p:cNvSpPr/>
          <p:nvPr/>
        </p:nvSpPr>
        <p:spPr>
          <a:xfrm>
            <a:off x="5020056" y="3566160"/>
            <a:ext cx="2148840" cy="1965960"/>
          </a:xfrm>
          <a:prstGeom prst="roundRect">
            <a:avLst>
              <a:gd fmla="val 2791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3"/>
          <p:cNvSpPr/>
          <p:nvPr/>
        </p:nvSpPr>
        <p:spPr>
          <a:xfrm>
            <a:off x="5166360" y="3730752"/>
            <a:ext cx="1856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[Product Name 3]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3"/>
          <p:cNvSpPr/>
          <p:nvPr/>
        </p:nvSpPr>
        <p:spPr>
          <a:xfrm>
            <a:off x="5166360" y="437083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Orders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13"/>
          <p:cNvSpPr/>
          <p:nvPr/>
        </p:nvSpPr>
        <p:spPr>
          <a:xfrm>
            <a:off x="5166360" y="464515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Revenue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13"/>
          <p:cNvSpPr/>
          <p:nvPr/>
        </p:nvSpPr>
        <p:spPr>
          <a:xfrm>
            <a:off x="5166360" y="507492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3"/>
          <p:cNvSpPr/>
          <p:nvPr/>
        </p:nvSpPr>
        <p:spPr>
          <a:xfrm>
            <a:off x="7278624" y="1051560"/>
            <a:ext cx="2148840" cy="2377440"/>
          </a:xfrm>
          <a:prstGeom prst="roundRect">
            <a:avLst>
              <a:gd fmla="val 2128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3"/>
          <p:cNvSpPr/>
          <p:nvPr/>
        </p:nvSpPr>
        <p:spPr>
          <a:xfrm>
            <a:off x="7278624" y="105156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13"/>
          <p:cNvSpPr/>
          <p:nvPr/>
        </p:nvSpPr>
        <p:spPr>
          <a:xfrm>
            <a:off x="7278624" y="3566160"/>
            <a:ext cx="2148840" cy="1965960"/>
          </a:xfrm>
          <a:prstGeom prst="roundRect">
            <a:avLst>
              <a:gd fmla="val 2791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3"/>
          <p:cNvSpPr/>
          <p:nvPr/>
        </p:nvSpPr>
        <p:spPr>
          <a:xfrm>
            <a:off x="7424928" y="3730752"/>
            <a:ext cx="1856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[Product Name 4]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13"/>
          <p:cNvSpPr/>
          <p:nvPr/>
        </p:nvSpPr>
        <p:spPr>
          <a:xfrm>
            <a:off x="7424928" y="437083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Orders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13"/>
          <p:cNvSpPr/>
          <p:nvPr/>
        </p:nvSpPr>
        <p:spPr>
          <a:xfrm>
            <a:off x="7424928" y="464515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Revenue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13"/>
          <p:cNvSpPr/>
          <p:nvPr/>
        </p:nvSpPr>
        <p:spPr>
          <a:xfrm>
            <a:off x="7424928" y="507492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3"/>
          <p:cNvSpPr/>
          <p:nvPr/>
        </p:nvSpPr>
        <p:spPr>
          <a:xfrm>
            <a:off x="9537192" y="1051560"/>
            <a:ext cx="2148840" cy="2377440"/>
          </a:xfrm>
          <a:prstGeom prst="roundRect">
            <a:avLst>
              <a:gd fmla="val 2128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3"/>
          <p:cNvSpPr/>
          <p:nvPr/>
        </p:nvSpPr>
        <p:spPr>
          <a:xfrm>
            <a:off x="9537192" y="105156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3"/>
          <p:cNvSpPr/>
          <p:nvPr/>
        </p:nvSpPr>
        <p:spPr>
          <a:xfrm>
            <a:off x="9537192" y="3566160"/>
            <a:ext cx="2148840" cy="1965960"/>
          </a:xfrm>
          <a:prstGeom prst="roundRect">
            <a:avLst>
              <a:gd fmla="val 2791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3"/>
          <p:cNvSpPr/>
          <p:nvPr/>
        </p:nvSpPr>
        <p:spPr>
          <a:xfrm>
            <a:off x="9683496" y="3730752"/>
            <a:ext cx="1856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[Product Name 5]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13"/>
          <p:cNvSpPr/>
          <p:nvPr/>
        </p:nvSpPr>
        <p:spPr>
          <a:xfrm>
            <a:off x="9683496" y="437083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Orders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13"/>
          <p:cNvSpPr/>
          <p:nvPr/>
        </p:nvSpPr>
        <p:spPr>
          <a:xfrm>
            <a:off x="9683496" y="4645152"/>
            <a:ext cx="1856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Revenue  </a:t>
            </a:r>
            <a:r>
              <a:rPr b="1" i="0" lang="en-US" sz="11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$—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13"/>
          <p:cNvSpPr/>
          <p:nvPr/>
        </p:nvSpPr>
        <p:spPr>
          <a:xfrm>
            <a:off x="9683496" y="5074920"/>
            <a:ext cx="1856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13"/>
          <p:cNvSpPr/>
          <p:nvPr/>
        </p:nvSpPr>
        <p:spPr>
          <a:xfrm>
            <a:off x="457200" y="57607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Engine data, PMax listing group / product report. Drop product shots from the Shopping feed into the image frames.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4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Paid Search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Promotion Recap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1330" name="Google Shape;13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4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4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4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4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4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4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4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4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4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4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4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4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4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4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4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4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4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4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4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4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4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4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4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4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4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4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4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4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4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4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4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4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4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4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4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4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4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4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4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4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4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4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4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4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4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4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4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4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4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14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4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4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4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4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4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4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4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14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4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4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4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4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4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14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4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4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4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4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14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4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4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14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4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4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4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14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4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4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4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4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4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4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4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4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4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4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4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14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14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4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4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14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14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4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4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14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4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14"/>
          <p:cNvSpPr/>
          <p:nvPr/>
        </p:nvSpPr>
        <p:spPr>
          <a:xfrm>
            <a:off x="429768" y="795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[Promo Name]  ·  [M/DD – M/DD]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14"/>
          <p:cNvSpPr/>
          <p:nvPr/>
        </p:nvSpPr>
        <p:spPr>
          <a:xfrm>
            <a:off x="411480" y="1188720"/>
            <a:ext cx="6675120" cy="1783080"/>
          </a:xfrm>
          <a:prstGeom prst="roundRect">
            <a:avLst>
              <a:gd fmla="val 2564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14"/>
          <p:cNvSpPr/>
          <p:nvPr/>
        </p:nvSpPr>
        <p:spPr>
          <a:xfrm>
            <a:off x="411480" y="1188720"/>
            <a:ext cx="66751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0B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8B0B5"/>
                </a:solidFill>
                <a:latin typeface="Arial"/>
                <a:ea typeface="Arial"/>
                <a:cs typeface="Arial"/>
                <a:sym typeface="Arial"/>
              </a:rPr>
              <a:t>Sponsored / Shopping ad unit screenshot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1" name="Google Shape;1431;p14"/>
          <p:cNvGraphicFramePr/>
          <p:nvPr/>
        </p:nvGraphicFramePr>
        <p:xfrm>
          <a:off x="73609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1645925"/>
                <a:gridCol w="685800"/>
                <a:gridCol w="685800"/>
                <a:gridCol w="685800"/>
                <a:gridCol w="6858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Sitelink / Extension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[Promo sitelink 1]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[Promo sitelink 2]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[Promo sitelink 3]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Grand Total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38100" marL="508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1432" name="Google Shape;1432;p14"/>
          <p:cNvSpPr/>
          <p:nvPr/>
        </p:nvSpPr>
        <p:spPr>
          <a:xfrm>
            <a:off x="411480" y="3200400"/>
            <a:ext cx="11338560" cy="2606040"/>
          </a:xfrm>
          <a:prstGeom prst="roundRect">
            <a:avLst>
              <a:gd fmla="val 2105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4"/>
          <p:cNvSpPr/>
          <p:nvPr/>
        </p:nvSpPr>
        <p:spPr>
          <a:xfrm>
            <a:off x="658368" y="33649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14"/>
          <p:cNvSpPr/>
          <p:nvPr/>
        </p:nvSpPr>
        <p:spPr>
          <a:xfrm>
            <a:off x="6858000" y="3401568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*Revenue data from Triple Whale; prior-year comparison from [source]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14"/>
          <p:cNvSpPr/>
          <p:nvPr/>
        </p:nvSpPr>
        <p:spPr>
          <a:xfrm>
            <a:off x="658368" y="3703320"/>
            <a:ext cx="10835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Across the — days of promotion, paid search drove $— in revenue on $— in spend — a $— ROAS. Revenue was [up/down] —% vs. last year's promo, [gaining/losing] efficiency (—%) as we scaled.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[Structural change tested during the promo — e.g. new PMax strategy, bid strategy shift, or offer construct — and how it affected efficiency.]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Compared to the prior — days, brand text drove —% [more/less] revenue at $—, making up —% of total paid search revenue on a [stronger/weaker] CVR (—%) and [lower/higher] CPCs (—%), at a $— ROAS.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Top revenue products: [Product 1], [Product 2] and [Product 3]. [Product] had — orders and $— in revenue, followed by [Product] with — orders and $—.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5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ChatGPT Ads  </a:t>
            </a:r>
            <a:r>
              <a:rPr b="0" i="0" lang="en-US" sz="2700" u="none" cap="none" strike="noStrike">
                <a:solidFill>
                  <a:srgbClr val="D8DDE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27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Performance &amp; Learnings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1442" name="Google Shape;14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5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5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5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5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15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5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5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5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5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5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5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5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5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5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15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15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5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5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5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5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5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5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5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5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5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5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5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5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5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5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5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5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5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5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5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5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5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5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5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5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15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5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5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5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5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5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5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5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5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5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5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5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5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5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5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5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5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5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5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15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5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5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15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5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5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5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5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5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5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5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5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5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5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15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15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15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15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15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15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5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5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5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5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5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5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5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15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15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15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15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5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15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15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15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5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15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15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15"/>
          <p:cNvSpPr/>
          <p:nvPr/>
        </p:nvSpPr>
        <p:spPr>
          <a:xfrm>
            <a:off x="429768" y="822960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E8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15"/>
          <p:cNvSpPr/>
          <p:nvPr/>
        </p:nvSpPr>
        <p:spPr>
          <a:xfrm>
            <a:off x="429768" y="82296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TEST CHANNEL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2" name="Google Shape;1542;p15"/>
          <p:cNvGraphicFramePr/>
          <p:nvPr/>
        </p:nvGraphicFramePr>
        <p:xfrm>
          <a:off x="41148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{CEED2B10-7392-4561-AAA8-4489115274EC}</a:tableStyleId>
              </a:tblPr>
              <a:tblGrid>
                <a:gridCol w="1097275"/>
                <a:gridCol w="606825"/>
                <a:gridCol w="606825"/>
                <a:gridCol w="606825"/>
                <a:gridCol w="606825"/>
                <a:gridCol w="606825"/>
                <a:gridCol w="606825"/>
                <a:gridCol w="606825"/>
                <a:gridCol w="606825"/>
                <a:gridCol w="606825"/>
                <a:gridCol w="606825"/>
                <a:gridCol w="6068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Impr.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Sessions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CPC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Revenue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CVR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AOV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50"/>
                        <a:buFont typeface="Arial"/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 ROAS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417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[Current Month]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[Prior Month]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MoM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417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F141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YoY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238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A32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25400" marL="38100" anchor="ctr">
                    <a:lnL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D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1543" name="Google Shape;1543;p15"/>
          <p:cNvSpPr/>
          <p:nvPr/>
        </p:nvSpPr>
        <p:spPr>
          <a:xfrm>
            <a:off x="502920" y="2697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Notes on the Channel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15"/>
          <p:cNvSpPr/>
          <p:nvPr/>
        </p:nvSpPr>
        <p:spPr>
          <a:xfrm>
            <a:off x="502920" y="3063240"/>
            <a:ext cx="75895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Spend of $— represented —% of total paid media investment this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[Placement / surface mix — where impressions actually served]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[Query or intent themes that converted, and how they differ from Google search intent]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500"/>
              </a:spcBef>
              <a:spcAft>
                <a:spcPts val="0"/>
              </a:spcAft>
              <a:buClr>
                <a:srgbClr val="6F7074"/>
              </a:buClr>
              <a:buSzPts val="950"/>
              <a:buFont typeface="Arial"/>
              <a:buChar char="•"/>
            </a:pPr>
            <a:r>
              <a:rPr b="0" i="0" lang="en-US" sz="9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[Creative and offer format learnings — what the interface rewards]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A3238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2A3238"/>
                </a:solidFill>
                <a:latin typeface="Arial"/>
                <a:ea typeface="Arial"/>
                <a:cs typeface="Arial"/>
                <a:sym typeface="Arial"/>
              </a:rPr>
              <a:t>[Attribution caveat — how OpenAI channel data is being credited in Triple Whale vs. platform-reported]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15"/>
          <p:cNvSpPr/>
          <p:nvPr/>
        </p:nvSpPr>
        <p:spPr>
          <a:xfrm>
            <a:off x="8458200" y="1234440"/>
            <a:ext cx="3291840" cy="3931920"/>
          </a:xfrm>
          <a:prstGeom prst="roundRect">
            <a:avLst>
              <a:gd fmla="val 1667" name="adj"/>
            </a:avLst>
          </a:prstGeom>
          <a:solidFill>
            <a:srgbClr val="F5F7F9"/>
          </a:solidFill>
          <a:ln cap="flat" cmpd="sng" w="9525">
            <a:solidFill>
              <a:srgbClr val="D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15"/>
          <p:cNvSpPr/>
          <p:nvPr/>
        </p:nvSpPr>
        <p:spPr>
          <a:xfrm>
            <a:off x="8659368" y="1435608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Read on the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15"/>
          <p:cNvSpPr/>
          <p:nvPr/>
        </p:nvSpPr>
        <p:spPr>
          <a:xfrm>
            <a:off x="8659368" y="1709928"/>
            <a:ext cx="28895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[Is this channel earning its budget yet? Incremental or cannibalizing brand search?]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15"/>
          <p:cNvSpPr/>
          <p:nvPr/>
        </p:nvSpPr>
        <p:spPr>
          <a:xfrm>
            <a:off x="8659368" y="3145536"/>
            <a:ext cx="2889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15"/>
          <p:cNvSpPr/>
          <p:nvPr/>
        </p:nvSpPr>
        <p:spPr>
          <a:xfrm>
            <a:off x="8659368" y="3419856"/>
            <a:ext cx="28895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[Scale, hold, or pause — and the specific test queued for next month]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15"/>
          <p:cNvSpPr/>
          <p:nvPr/>
        </p:nvSpPr>
        <p:spPr>
          <a:xfrm>
            <a:off x="457200" y="54406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OpenAI Ads platform data; attributed revenue via Triple Whale OpenAI channel. Reporting is early-stage — treat directionally.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7"/>
        </a:solidFill>
      </p:bgPr>
    </p:bg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6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  </a:t>
            </a:r>
            <a:r>
              <a:rPr b="0" i="0" lang="en-US" sz="3000" u="none" cap="none" strike="noStrike">
                <a:solidFill>
                  <a:srgbClr val="3A4A52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r>
              <a:rPr b="0" i="0" lang="en-US" sz="30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[Next Month]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16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fmla="val 5455" name="adj"/>
            </a:avLst>
          </a:prstGeom>
          <a:solidFill>
            <a:srgbClr val="1B24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6"/>
          <p:cNvSpPr/>
          <p:nvPr/>
        </p:nvSpPr>
        <p:spPr>
          <a:xfrm>
            <a:off x="822960" y="137160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B6F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16"/>
          <p:cNvSpPr/>
          <p:nvPr/>
        </p:nvSpPr>
        <p:spPr>
          <a:xfrm>
            <a:off x="1600200" y="15361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[Initiative title]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6"/>
          <p:cNvSpPr/>
          <p:nvPr/>
        </p:nvSpPr>
        <p:spPr>
          <a:xfrm>
            <a:off x="1600200" y="184708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AA3A8"/>
                </a:solidFill>
                <a:latin typeface="Arial"/>
                <a:ea typeface="Arial"/>
                <a:cs typeface="Arial"/>
                <a:sym typeface="Arial"/>
              </a:rPr>
              <a:t>[What we're doing, why, and the metric it moves]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6"/>
          <p:cNvSpPr/>
          <p:nvPr/>
        </p:nvSpPr>
        <p:spPr>
          <a:xfrm>
            <a:off x="8961120" y="1554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6"/>
          <p:cNvSpPr/>
          <p:nvPr/>
        </p:nvSpPr>
        <p:spPr>
          <a:xfrm>
            <a:off x="8961120" y="1773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[Owner]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6"/>
          <p:cNvSpPr/>
          <p:nvPr/>
        </p:nvSpPr>
        <p:spPr>
          <a:xfrm>
            <a:off x="10241280" y="1554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6"/>
          <p:cNvSpPr/>
          <p:nvPr/>
        </p:nvSpPr>
        <p:spPr>
          <a:xfrm>
            <a:off x="10241280" y="1773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[Target date]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16"/>
          <p:cNvSpPr/>
          <p:nvPr/>
        </p:nvSpPr>
        <p:spPr>
          <a:xfrm>
            <a:off x="548640" y="2514600"/>
            <a:ext cx="11064240" cy="1005840"/>
          </a:xfrm>
          <a:prstGeom prst="roundRect">
            <a:avLst>
              <a:gd fmla="val 5455" name="adj"/>
            </a:avLst>
          </a:prstGeom>
          <a:solidFill>
            <a:srgbClr val="1B24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6"/>
          <p:cNvSpPr/>
          <p:nvPr/>
        </p:nvSpPr>
        <p:spPr>
          <a:xfrm>
            <a:off x="822960" y="251460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B6F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16"/>
          <p:cNvSpPr/>
          <p:nvPr/>
        </p:nvSpPr>
        <p:spPr>
          <a:xfrm>
            <a:off x="1600200" y="26791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[Initiative title]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16"/>
          <p:cNvSpPr/>
          <p:nvPr/>
        </p:nvSpPr>
        <p:spPr>
          <a:xfrm>
            <a:off x="1600200" y="299008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AA3A8"/>
                </a:solidFill>
                <a:latin typeface="Arial"/>
                <a:ea typeface="Arial"/>
                <a:cs typeface="Arial"/>
                <a:sym typeface="Arial"/>
              </a:rPr>
              <a:t>[What we're doing, why, and the metric it moves]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16"/>
          <p:cNvSpPr/>
          <p:nvPr/>
        </p:nvSpPr>
        <p:spPr>
          <a:xfrm>
            <a:off x="8961120" y="2697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16"/>
          <p:cNvSpPr/>
          <p:nvPr/>
        </p:nvSpPr>
        <p:spPr>
          <a:xfrm>
            <a:off x="8961120" y="2916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[Owner]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16"/>
          <p:cNvSpPr/>
          <p:nvPr/>
        </p:nvSpPr>
        <p:spPr>
          <a:xfrm>
            <a:off x="10241280" y="2697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16"/>
          <p:cNvSpPr/>
          <p:nvPr/>
        </p:nvSpPr>
        <p:spPr>
          <a:xfrm>
            <a:off x="10241280" y="2916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[Target date]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16"/>
          <p:cNvSpPr/>
          <p:nvPr/>
        </p:nvSpPr>
        <p:spPr>
          <a:xfrm>
            <a:off x="548640" y="3657600"/>
            <a:ext cx="11064240" cy="1005840"/>
          </a:xfrm>
          <a:prstGeom prst="roundRect">
            <a:avLst>
              <a:gd fmla="val 5455" name="adj"/>
            </a:avLst>
          </a:prstGeom>
          <a:solidFill>
            <a:srgbClr val="1B24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6"/>
          <p:cNvSpPr/>
          <p:nvPr/>
        </p:nvSpPr>
        <p:spPr>
          <a:xfrm>
            <a:off x="822960" y="365760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B6F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16"/>
          <p:cNvSpPr/>
          <p:nvPr/>
        </p:nvSpPr>
        <p:spPr>
          <a:xfrm>
            <a:off x="1600200" y="38221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[Initiative title]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16"/>
          <p:cNvSpPr/>
          <p:nvPr/>
        </p:nvSpPr>
        <p:spPr>
          <a:xfrm>
            <a:off x="1600200" y="413308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AA3A8"/>
                </a:solidFill>
                <a:latin typeface="Arial"/>
                <a:ea typeface="Arial"/>
                <a:cs typeface="Arial"/>
                <a:sym typeface="Arial"/>
              </a:rPr>
              <a:t>[What we're doing, why, and the metric it moves]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6"/>
          <p:cNvSpPr/>
          <p:nvPr/>
        </p:nvSpPr>
        <p:spPr>
          <a:xfrm>
            <a:off x="8961120" y="3840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16"/>
          <p:cNvSpPr/>
          <p:nvPr/>
        </p:nvSpPr>
        <p:spPr>
          <a:xfrm>
            <a:off x="8961120" y="4059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[Owner]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16"/>
          <p:cNvSpPr/>
          <p:nvPr/>
        </p:nvSpPr>
        <p:spPr>
          <a:xfrm>
            <a:off x="10241280" y="3840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16"/>
          <p:cNvSpPr/>
          <p:nvPr/>
        </p:nvSpPr>
        <p:spPr>
          <a:xfrm>
            <a:off x="10241280" y="4059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[Target date]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6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fmla="val 5455" name="adj"/>
            </a:avLst>
          </a:prstGeom>
          <a:solidFill>
            <a:srgbClr val="1B24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6"/>
          <p:cNvSpPr/>
          <p:nvPr/>
        </p:nvSpPr>
        <p:spPr>
          <a:xfrm>
            <a:off x="822960" y="480060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B6F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6"/>
          <p:cNvSpPr/>
          <p:nvPr/>
        </p:nvSpPr>
        <p:spPr>
          <a:xfrm>
            <a:off x="1600200" y="49651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[Initiative title]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6"/>
          <p:cNvSpPr/>
          <p:nvPr/>
        </p:nvSpPr>
        <p:spPr>
          <a:xfrm>
            <a:off x="1600200" y="527608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AA3A8"/>
                </a:solidFill>
                <a:latin typeface="Arial"/>
                <a:ea typeface="Arial"/>
                <a:cs typeface="Arial"/>
                <a:sym typeface="Arial"/>
              </a:rPr>
              <a:t>[What we're doing, why, and the metric it moves]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6"/>
          <p:cNvSpPr/>
          <p:nvPr/>
        </p:nvSpPr>
        <p:spPr>
          <a:xfrm>
            <a:off x="8961120" y="4983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6"/>
          <p:cNvSpPr/>
          <p:nvPr/>
        </p:nvSpPr>
        <p:spPr>
          <a:xfrm>
            <a:off x="8961120" y="5202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[Owner]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16"/>
          <p:cNvSpPr/>
          <p:nvPr/>
        </p:nvSpPr>
        <p:spPr>
          <a:xfrm>
            <a:off x="10241280" y="498348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6"/>
          <p:cNvSpPr/>
          <p:nvPr/>
        </p:nvSpPr>
        <p:spPr>
          <a:xfrm>
            <a:off x="10241280" y="5202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[Target date]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white.png" id="1589" name="Google Shape;15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208776"/>
            <a:ext cx="1280160" cy="47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6"/>
          <p:cNvSpPr/>
          <p:nvPr/>
        </p:nvSpPr>
        <p:spPr>
          <a:xfrm>
            <a:off x="2331720" y="6382512"/>
            <a:ext cx="41148" cy="41148"/>
          </a:xfrm>
          <a:prstGeom prst="ellipse">
            <a:avLst/>
          </a:prstGeom>
          <a:solidFill>
            <a:srgbClr val="3A4A5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6"/>
          <p:cNvSpPr/>
          <p:nvPr/>
        </p:nvSpPr>
        <p:spPr>
          <a:xfrm>
            <a:off x="2499036" y="6382512"/>
            <a:ext cx="41148" cy="41148"/>
          </a:xfrm>
          <a:prstGeom prst="ellipse">
            <a:avLst/>
          </a:prstGeom>
          <a:solidFill>
            <a:srgbClr val="3A4A52">
              <a:alpha val="5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6"/>
          <p:cNvSpPr/>
          <p:nvPr/>
        </p:nvSpPr>
        <p:spPr>
          <a:xfrm>
            <a:off x="2666351" y="6382512"/>
            <a:ext cx="41148" cy="41148"/>
          </a:xfrm>
          <a:prstGeom prst="ellipse">
            <a:avLst/>
          </a:prstGeom>
          <a:solidFill>
            <a:srgbClr val="3A4A52">
              <a:alpha val="5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6"/>
          <p:cNvSpPr/>
          <p:nvPr/>
        </p:nvSpPr>
        <p:spPr>
          <a:xfrm>
            <a:off x="2833667" y="6382512"/>
            <a:ext cx="41148" cy="41148"/>
          </a:xfrm>
          <a:prstGeom prst="ellipse">
            <a:avLst/>
          </a:prstGeom>
          <a:solidFill>
            <a:srgbClr val="3A4A52">
              <a:alpha val="5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6"/>
          <p:cNvSpPr/>
          <p:nvPr/>
        </p:nvSpPr>
        <p:spPr>
          <a:xfrm>
            <a:off x="3000983" y="6382512"/>
            <a:ext cx="41148" cy="41148"/>
          </a:xfrm>
          <a:prstGeom prst="ellipse">
            <a:avLst/>
          </a:prstGeom>
          <a:solidFill>
            <a:srgbClr val="3A4A52">
              <a:alpha val="5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6"/>
          <p:cNvSpPr/>
          <p:nvPr/>
        </p:nvSpPr>
        <p:spPr>
          <a:xfrm>
            <a:off x="3168299" y="6382512"/>
            <a:ext cx="41148" cy="41148"/>
          </a:xfrm>
          <a:prstGeom prst="ellipse">
            <a:avLst/>
          </a:prstGeom>
          <a:solidFill>
            <a:srgbClr val="3A4A52">
              <a:alpha val="5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6"/>
          <p:cNvSpPr/>
          <p:nvPr/>
        </p:nvSpPr>
        <p:spPr>
          <a:xfrm>
            <a:off x="3335614" y="6382512"/>
            <a:ext cx="41148" cy="41148"/>
          </a:xfrm>
          <a:prstGeom prst="ellipse">
            <a:avLst/>
          </a:prstGeom>
          <a:solidFill>
            <a:srgbClr val="3A4A52">
              <a:alpha val="5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6"/>
          <p:cNvSpPr/>
          <p:nvPr/>
        </p:nvSpPr>
        <p:spPr>
          <a:xfrm>
            <a:off x="3502930" y="6382512"/>
            <a:ext cx="41148" cy="41148"/>
          </a:xfrm>
          <a:prstGeom prst="ellipse">
            <a:avLst/>
          </a:prstGeom>
          <a:solidFill>
            <a:srgbClr val="3A4A52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6"/>
          <p:cNvSpPr/>
          <p:nvPr/>
        </p:nvSpPr>
        <p:spPr>
          <a:xfrm>
            <a:off x="3670246" y="6382512"/>
            <a:ext cx="41148" cy="41148"/>
          </a:xfrm>
          <a:prstGeom prst="ellipse">
            <a:avLst/>
          </a:prstGeom>
          <a:solidFill>
            <a:srgbClr val="3A4A52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6"/>
          <p:cNvSpPr/>
          <p:nvPr/>
        </p:nvSpPr>
        <p:spPr>
          <a:xfrm>
            <a:off x="3837562" y="6382512"/>
            <a:ext cx="41148" cy="41148"/>
          </a:xfrm>
          <a:prstGeom prst="ellipse">
            <a:avLst/>
          </a:prstGeom>
          <a:solidFill>
            <a:srgbClr val="3A4A52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6"/>
          <p:cNvSpPr/>
          <p:nvPr/>
        </p:nvSpPr>
        <p:spPr>
          <a:xfrm>
            <a:off x="4004877" y="6382512"/>
            <a:ext cx="41148" cy="41148"/>
          </a:xfrm>
          <a:prstGeom prst="ellipse">
            <a:avLst/>
          </a:prstGeom>
          <a:solidFill>
            <a:srgbClr val="3A4A52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6"/>
          <p:cNvSpPr/>
          <p:nvPr/>
        </p:nvSpPr>
        <p:spPr>
          <a:xfrm>
            <a:off x="4172193" y="6382512"/>
            <a:ext cx="41148" cy="41148"/>
          </a:xfrm>
          <a:prstGeom prst="ellipse">
            <a:avLst/>
          </a:prstGeom>
          <a:solidFill>
            <a:srgbClr val="3A4A52">
              <a:alpha val="5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6"/>
          <p:cNvSpPr/>
          <p:nvPr/>
        </p:nvSpPr>
        <p:spPr>
          <a:xfrm>
            <a:off x="4339509" y="6382512"/>
            <a:ext cx="41148" cy="41148"/>
          </a:xfrm>
          <a:prstGeom prst="ellipse">
            <a:avLst/>
          </a:prstGeom>
          <a:solidFill>
            <a:srgbClr val="3A4A52">
              <a:alpha val="5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6"/>
          <p:cNvSpPr/>
          <p:nvPr/>
        </p:nvSpPr>
        <p:spPr>
          <a:xfrm>
            <a:off x="4506825" y="6382512"/>
            <a:ext cx="41148" cy="41148"/>
          </a:xfrm>
          <a:prstGeom prst="ellipse">
            <a:avLst/>
          </a:prstGeom>
          <a:solidFill>
            <a:srgbClr val="3A4A52">
              <a:alpha val="5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6"/>
          <p:cNvSpPr/>
          <p:nvPr/>
        </p:nvSpPr>
        <p:spPr>
          <a:xfrm>
            <a:off x="4674140" y="6382512"/>
            <a:ext cx="41148" cy="41148"/>
          </a:xfrm>
          <a:prstGeom prst="ellipse">
            <a:avLst/>
          </a:prstGeom>
          <a:solidFill>
            <a:srgbClr val="3A4A52">
              <a:alpha val="5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6"/>
          <p:cNvSpPr/>
          <p:nvPr/>
        </p:nvSpPr>
        <p:spPr>
          <a:xfrm>
            <a:off x="4841456" y="6382512"/>
            <a:ext cx="41148" cy="41148"/>
          </a:xfrm>
          <a:prstGeom prst="ellipse">
            <a:avLst/>
          </a:prstGeom>
          <a:solidFill>
            <a:srgbClr val="3A4A52">
              <a:alpha val="5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6"/>
          <p:cNvSpPr/>
          <p:nvPr/>
        </p:nvSpPr>
        <p:spPr>
          <a:xfrm>
            <a:off x="5008772" y="6382512"/>
            <a:ext cx="41148" cy="41148"/>
          </a:xfrm>
          <a:prstGeom prst="ellipse">
            <a:avLst/>
          </a:prstGeom>
          <a:solidFill>
            <a:srgbClr val="3A4A52">
              <a:alpha val="5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6"/>
          <p:cNvSpPr/>
          <p:nvPr/>
        </p:nvSpPr>
        <p:spPr>
          <a:xfrm>
            <a:off x="5176088" y="6382512"/>
            <a:ext cx="41148" cy="41148"/>
          </a:xfrm>
          <a:prstGeom prst="ellipse">
            <a:avLst/>
          </a:prstGeom>
          <a:solidFill>
            <a:srgbClr val="3A4A52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6"/>
          <p:cNvSpPr/>
          <p:nvPr/>
        </p:nvSpPr>
        <p:spPr>
          <a:xfrm>
            <a:off x="5343403" y="6382512"/>
            <a:ext cx="41148" cy="41148"/>
          </a:xfrm>
          <a:prstGeom prst="ellipse">
            <a:avLst/>
          </a:prstGeom>
          <a:solidFill>
            <a:srgbClr val="3A4A52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6"/>
          <p:cNvSpPr/>
          <p:nvPr/>
        </p:nvSpPr>
        <p:spPr>
          <a:xfrm>
            <a:off x="5510719" y="6382512"/>
            <a:ext cx="41148" cy="41148"/>
          </a:xfrm>
          <a:prstGeom prst="ellipse">
            <a:avLst/>
          </a:prstGeom>
          <a:solidFill>
            <a:srgbClr val="3A4A5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6"/>
          <p:cNvSpPr/>
          <p:nvPr/>
        </p:nvSpPr>
        <p:spPr>
          <a:xfrm>
            <a:off x="5678035" y="6382512"/>
            <a:ext cx="41148" cy="41148"/>
          </a:xfrm>
          <a:prstGeom prst="ellipse">
            <a:avLst/>
          </a:prstGeom>
          <a:solidFill>
            <a:srgbClr val="3A4A5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6"/>
          <p:cNvSpPr/>
          <p:nvPr/>
        </p:nvSpPr>
        <p:spPr>
          <a:xfrm>
            <a:off x="5845351" y="6382512"/>
            <a:ext cx="41148" cy="41148"/>
          </a:xfrm>
          <a:prstGeom prst="ellipse">
            <a:avLst/>
          </a:prstGeom>
          <a:solidFill>
            <a:srgbClr val="3A4A52">
              <a:alpha val="4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6"/>
          <p:cNvSpPr/>
          <p:nvPr/>
        </p:nvSpPr>
        <p:spPr>
          <a:xfrm>
            <a:off x="6012666" y="6382512"/>
            <a:ext cx="41148" cy="41148"/>
          </a:xfrm>
          <a:prstGeom prst="ellipse">
            <a:avLst/>
          </a:prstGeom>
          <a:solidFill>
            <a:srgbClr val="3A4A52">
              <a:alpha val="4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6"/>
          <p:cNvSpPr/>
          <p:nvPr/>
        </p:nvSpPr>
        <p:spPr>
          <a:xfrm>
            <a:off x="6179982" y="6382512"/>
            <a:ext cx="41148" cy="41148"/>
          </a:xfrm>
          <a:prstGeom prst="ellipse">
            <a:avLst/>
          </a:prstGeom>
          <a:solidFill>
            <a:srgbClr val="3A4A52">
              <a:alpha val="4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6"/>
          <p:cNvSpPr/>
          <p:nvPr/>
        </p:nvSpPr>
        <p:spPr>
          <a:xfrm>
            <a:off x="6347298" y="6382512"/>
            <a:ext cx="41148" cy="41148"/>
          </a:xfrm>
          <a:prstGeom prst="ellipse">
            <a:avLst/>
          </a:prstGeom>
          <a:solidFill>
            <a:srgbClr val="3A4A52">
              <a:alpha val="4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6"/>
          <p:cNvSpPr/>
          <p:nvPr/>
        </p:nvSpPr>
        <p:spPr>
          <a:xfrm>
            <a:off x="6514614" y="6382512"/>
            <a:ext cx="41148" cy="41148"/>
          </a:xfrm>
          <a:prstGeom prst="ellipse">
            <a:avLst/>
          </a:prstGeom>
          <a:solidFill>
            <a:srgbClr val="3A4A52">
              <a:alpha val="4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6"/>
          <p:cNvSpPr/>
          <p:nvPr/>
        </p:nvSpPr>
        <p:spPr>
          <a:xfrm>
            <a:off x="6681929" y="6382512"/>
            <a:ext cx="41148" cy="41148"/>
          </a:xfrm>
          <a:prstGeom prst="ellipse">
            <a:avLst/>
          </a:prstGeom>
          <a:solidFill>
            <a:srgbClr val="3A4A52">
              <a:alpha val="4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6"/>
          <p:cNvSpPr/>
          <p:nvPr/>
        </p:nvSpPr>
        <p:spPr>
          <a:xfrm>
            <a:off x="6849245" y="6382512"/>
            <a:ext cx="41148" cy="41148"/>
          </a:xfrm>
          <a:prstGeom prst="ellipse">
            <a:avLst/>
          </a:prstGeom>
          <a:solidFill>
            <a:srgbClr val="3A4A52">
              <a:alpha val="4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6"/>
          <p:cNvSpPr/>
          <p:nvPr/>
        </p:nvSpPr>
        <p:spPr>
          <a:xfrm>
            <a:off x="7016561" y="6382512"/>
            <a:ext cx="41148" cy="41148"/>
          </a:xfrm>
          <a:prstGeom prst="ellipse">
            <a:avLst/>
          </a:prstGeom>
          <a:solidFill>
            <a:srgbClr val="3A4A5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6"/>
          <p:cNvSpPr/>
          <p:nvPr/>
        </p:nvSpPr>
        <p:spPr>
          <a:xfrm>
            <a:off x="7183877" y="6382512"/>
            <a:ext cx="41148" cy="41148"/>
          </a:xfrm>
          <a:prstGeom prst="ellipse">
            <a:avLst/>
          </a:prstGeom>
          <a:solidFill>
            <a:srgbClr val="3A4A5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6"/>
          <p:cNvSpPr/>
          <p:nvPr/>
        </p:nvSpPr>
        <p:spPr>
          <a:xfrm>
            <a:off x="7351192" y="6382512"/>
            <a:ext cx="41148" cy="41148"/>
          </a:xfrm>
          <a:prstGeom prst="ellipse">
            <a:avLst/>
          </a:prstGeom>
          <a:solidFill>
            <a:srgbClr val="3A4A52">
              <a:alpha val="4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6"/>
          <p:cNvSpPr/>
          <p:nvPr/>
        </p:nvSpPr>
        <p:spPr>
          <a:xfrm>
            <a:off x="7518508" y="6382512"/>
            <a:ext cx="41148" cy="41148"/>
          </a:xfrm>
          <a:prstGeom prst="ellipse">
            <a:avLst/>
          </a:prstGeom>
          <a:solidFill>
            <a:srgbClr val="3A4A52">
              <a:alpha val="4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6"/>
          <p:cNvSpPr/>
          <p:nvPr/>
        </p:nvSpPr>
        <p:spPr>
          <a:xfrm>
            <a:off x="7685824" y="6382512"/>
            <a:ext cx="41148" cy="41148"/>
          </a:xfrm>
          <a:prstGeom prst="ellipse">
            <a:avLst/>
          </a:prstGeom>
          <a:solidFill>
            <a:srgbClr val="3A4A52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6"/>
          <p:cNvSpPr/>
          <p:nvPr/>
        </p:nvSpPr>
        <p:spPr>
          <a:xfrm>
            <a:off x="7853140" y="6382512"/>
            <a:ext cx="41148" cy="41148"/>
          </a:xfrm>
          <a:prstGeom prst="ellipse">
            <a:avLst/>
          </a:prstGeom>
          <a:solidFill>
            <a:srgbClr val="3A4A52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6"/>
          <p:cNvSpPr/>
          <p:nvPr/>
        </p:nvSpPr>
        <p:spPr>
          <a:xfrm>
            <a:off x="8020455" y="6382512"/>
            <a:ext cx="41148" cy="41148"/>
          </a:xfrm>
          <a:prstGeom prst="ellipse">
            <a:avLst/>
          </a:prstGeom>
          <a:solidFill>
            <a:srgbClr val="3A4A52">
              <a:alpha val="4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6"/>
          <p:cNvSpPr/>
          <p:nvPr/>
        </p:nvSpPr>
        <p:spPr>
          <a:xfrm>
            <a:off x="8187771" y="6382512"/>
            <a:ext cx="41148" cy="41148"/>
          </a:xfrm>
          <a:prstGeom prst="ellipse">
            <a:avLst/>
          </a:prstGeom>
          <a:solidFill>
            <a:srgbClr val="3A4A52">
              <a:alpha val="4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6"/>
          <p:cNvSpPr/>
          <p:nvPr/>
        </p:nvSpPr>
        <p:spPr>
          <a:xfrm>
            <a:off x="8355087" y="6382512"/>
            <a:ext cx="41148" cy="41148"/>
          </a:xfrm>
          <a:prstGeom prst="ellipse">
            <a:avLst/>
          </a:prstGeom>
          <a:solidFill>
            <a:srgbClr val="3A4A52">
              <a:alpha val="4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6"/>
          <p:cNvSpPr/>
          <p:nvPr/>
        </p:nvSpPr>
        <p:spPr>
          <a:xfrm>
            <a:off x="8522403" y="6382512"/>
            <a:ext cx="41148" cy="41148"/>
          </a:xfrm>
          <a:prstGeom prst="ellipse">
            <a:avLst/>
          </a:prstGeom>
          <a:solidFill>
            <a:srgbClr val="3A4A52">
              <a:alpha val="4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6"/>
          <p:cNvSpPr/>
          <p:nvPr/>
        </p:nvSpPr>
        <p:spPr>
          <a:xfrm>
            <a:off x="8689718" y="6382512"/>
            <a:ext cx="41148" cy="41148"/>
          </a:xfrm>
          <a:prstGeom prst="ellipse">
            <a:avLst/>
          </a:prstGeom>
          <a:solidFill>
            <a:srgbClr val="3A4A5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16"/>
          <p:cNvSpPr/>
          <p:nvPr/>
        </p:nvSpPr>
        <p:spPr>
          <a:xfrm>
            <a:off x="8857034" y="6382512"/>
            <a:ext cx="41148" cy="41148"/>
          </a:xfrm>
          <a:prstGeom prst="ellipse">
            <a:avLst/>
          </a:prstGeom>
          <a:solidFill>
            <a:srgbClr val="3A4A5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6"/>
          <p:cNvSpPr/>
          <p:nvPr/>
        </p:nvSpPr>
        <p:spPr>
          <a:xfrm>
            <a:off x="9024350" y="6382512"/>
            <a:ext cx="41148" cy="41148"/>
          </a:xfrm>
          <a:prstGeom prst="ellipse">
            <a:avLst/>
          </a:prstGeom>
          <a:solidFill>
            <a:srgbClr val="3A4A52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16"/>
          <p:cNvSpPr/>
          <p:nvPr/>
        </p:nvSpPr>
        <p:spPr>
          <a:xfrm>
            <a:off x="9191666" y="6382512"/>
            <a:ext cx="41148" cy="41148"/>
          </a:xfrm>
          <a:prstGeom prst="ellipse">
            <a:avLst/>
          </a:prstGeom>
          <a:solidFill>
            <a:srgbClr val="3A4A52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6"/>
          <p:cNvSpPr/>
          <p:nvPr/>
        </p:nvSpPr>
        <p:spPr>
          <a:xfrm>
            <a:off x="9358981" y="6382512"/>
            <a:ext cx="41148" cy="41148"/>
          </a:xfrm>
          <a:prstGeom prst="ellipse">
            <a:avLst/>
          </a:prstGeom>
          <a:solidFill>
            <a:srgbClr val="3A4A52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6"/>
          <p:cNvSpPr/>
          <p:nvPr/>
        </p:nvSpPr>
        <p:spPr>
          <a:xfrm>
            <a:off x="9526297" y="6382512"/>
            <a:ext cx="41148" cy="41148"/>
          </a:xfrm>
          <a:prstGeom prst="ellipse">
            <a:avLst/>
          </a:prstGeom>
          <a:solidFill>
            <a:srgbClr val="3A4A52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6"/>
          <p:cNvSpPr/>
          <p:nvPr/>
        </p:nvSpPr>
        <p:spPr>
          <a:xfrm>
            <a:off x="9693613" y="6382512"/>
            <a:ext cx="41148" cy="41148"/>
          </a:xfrm>
          <a:prstGeom prst="ellipse">
            <a:avLst/>
          </a:prstGeom>
          <a:solidFill>
            <a:srgbClr val="3A4A52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16"/>
          <p:cNvSpPr/>
          <p:nvPr/>
        </p:nvSpPr>
        <p:spPr>
          <a:xfrm>
            <a:off x="9860929" y="6382512"/>
            <a:ext cx="41148" cy="41148"/>
          </a:xfrm>
          <a:prstGeom prst="ellipse">
            <a:avLst/>
          </a:prstGeom>
          <a:solidFill>
            <a:srgbClr val="3A4A52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6"/>
          <p:cNvSpPr/>
          <p:nvPr/>
        </p:nvSpPr>
        <p:spPr>
          <a:xfrm>
            <a:off x="10028244" y="6382512"/>
            <a:ext cx="41148" cy="41148"/>
          </a:xfrm>
          <a:prstGeom prst="ellipse">
            <a:avLst/>
          </a:prstGeom>
          <a:solidFill>
            <a:srgbClr val="3A4A52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16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3A4A52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6"/>
          <p:cNvSpPr/>
          <p:nvPr/>
        </p:nvSpPr>
        <p:spPr>
          <a:xfrm>
            <a:off x="2331720" y="6501384"/>
            <a:ext cx="41148" cy="41148"/>
          </a:xfrm>
          <a:prstGeom prst="ellipse">
            <a:avLst/>
          </a:prstGeom>
          <a:solidFill>
            <a:srgbClr val="3A4A5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16"/>
          <p:cNvSpPr/>
          <p:nvPr/>
        </p:nvSpPr>
        <p:spPr>
          <a:xfrm>
            <a:off x="2499036" y="6501384"/>
            <a:ext cx="41148" cy="41148"/>
          </a:xfrm>
          <a:prstGeom prst="ellipse">
            <a:avLst/>
          </a:prstGeom>
          <a:solidFill>
            <a:srgbClr val="3A4A52">
              <a:alpha val="5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16"/>
          <p:cNvSpPr/>
          <p:nvPr/>
        </p:nvSpPr>
        <p:spPr>
          <a:xfrm>
            <a:off x="2666351" y="6501384"/>
            <a:ext cx="41148" cy="41148"/>
          </a:xfrm>
          <a:prstGeom prst="ellipse">
            <a:avLst/>
          </a:prstGeom>
          <a:solidFill>
            <a:srgbClr val="3A4A52">
              <a:alpha val="5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6"/>
          <p:cNvSpPr/>
          <p:nvPr/>
        </p:nvSpPr>
        <p:spPr>
          <a:xfrm>
            <a:off x="2833667" y="6501384"/>
            <a:ext cx="41148" cy="41148"/>
          </a:xfrm>
          <a:prstGeom prst="ellipse">
            <a:avLst/>
          </a:prstGeom>
          <a:solidFill>
            <a:srgbClr val="3A4A52">
              <a:alpha val="5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16"/>
          <p:cNvSpPr/>
          <p:nvPr/>
        </p:nvSpPr>
        <p:spPr>
          <a:xfrm>
            <a:off x="3000983" y="6501384"/>
            <a:ext cx="41148" cy="41148"/>
          </a:xfrm>
          <a:prstGeom prst="ellipse">
            <a:avLst/>
          </a:prstGeom>
          <a:solidFill>
            <a:srgbClr val="3A4A52">
              <a:alpha val="5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16"/>
          <p:cNvSpPr/>
          <p:nvPr/>
        </p:nvSpPr>
        <p:spPr>
          <a:xfrm>
            <a:off x="3168299" y="6501384"/>
            <a:ext cx="41148" cy="41148"/>
          </a:xfrm>
          <a:prstGeom prst="ellipse">
            <a:avLst/>
          </a:prstGeom>
          <a:solidFill>
            <a:srgbClr val="3A4A52">
              <a:alpha val="5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16"/>
          <p:cNvSpPr/>
          <p:nvPr/>
        </p:nvSpPr>
        <p:spPr>
          <a:xfrm>
            <a:off x="3335614" y="6501384"/>
            <a:ext cx="41148" cy="41148"/>
          </a:xfrm>
          <a:prstGeom prst="ellipse">
            <a:avLst/>
          </a:prstGeom>
          <a:solidFill>
            <a:srgbClr val="3A4A52">
              <a:alpha val="5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6"/>
          <p:cNvSpPr/>
          <p:nvPr/>
        </p:nvSpPr>
        <p:spPr>
          <a:xfrm>
            <a:off x="3502930" y="6501384"/>
            <a:ext cx="41148" cy="41148"/>
          </a:xfrm>
          <a:prstGeom prst="ellipse">
            <a:avLst/>
          </a:prstGeom>
          <a:solidFill>
            <a:srgbClr val="3A4A52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6"/>
          <p:cNvSpPr/>
          <p:nvPr/>
        </p:nvSpPr>
        <p:spPr>
          <a:xfrm>
            <a:off x="3670246" y="6501384"/>
            <a:ext cx="41148" cy="41148"/>
          </a:xfrm>
          <a:prstGeom prst="ellipse">
            <a:avLst/>
          </a:prstGeom>
          <a:solidFill>
            <a:srgbClr val="3A4A52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16"/>
          <p:cNvSpPr/>
          <p:nvPr/>
        </p:nvSpPr>
        <p:spPr>
          <a:xfrm>
            <a:off x="3837562" y="6501384"/>
            <a:ext cx="41148" cy="41148"/>
          </a:xfrm>
          <a:prstGeom prst="ellipse">
            <a:avLst/>
          </a:prstGeom>
          <a:solidFill>
            <a:srgbClr val="3A4A52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6"/>
          <p:cNvSpPr/>
          <p:nvPr/>
        </p:nvSpPr>
        <p:spPr>
          <a:xfrm>
            <a:off x="4004877" y="6501384"/>
            <a:ext cx="41148" cy="41148"/>
          </a:xfrm>
          <a:prstGeom prst="ellipse">
            <a:avLst/>
          </a:prstGeom>
          <a:solidFill>
            <a:srgbClr val="3A4A52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16"/>
          <p:cNvSpPr/>
          <p:nvPr/>
        </p:nvSpPr>
        <p:spPr>
          <a:xfrm>
            <a:off x="4172193" y="6501384"/>
            <a:ext cx="41148" cy="41148"/>
          </a:xfrm>
          <a:prstGeom prst="ellipse">
            <a:avLst/>
          </a:prstGeom>
          <a:solidFill>
            <a:srgbClr val="3A4A52">
              <a:alpha val="5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6"/>
          <p:cNvSpPr/>
          <p:nvPr/>
        </p:nvSpPr>
        <p:spPr>
          <a:xfrm>
            <a:off x="4339509" y="6501384"/>
            <a:ext cx="41148" cy="41148"/>
          </a:xfrm>
          <a:prstGeom prst="ellipse">
            <a:avLst/>
          </a:prstGeom>
          <a:solidFill>
            <a:srgbClr val="3A4A52">
              <a:alpha val="5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16"/>
          <p:cNvSpPr/>
          <p:nvPr/>
        </p:nvSpPr>
        <p:spPr>
          <a:xfrm>
            <a:off x="4506825" y="6501384"/>
            <a:ext cx="41148" cy="41148"/>
          </a:xfrm>
          <a:prstGeom prst="ellipse">
            <a:avLst/>
          </a:prstGeom>
          <a:solidFill>
            <a:srgbClr val="3A4A52">
              <a:alpha val="5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16"/>
          <p:cNvSpPr/>
          <p:nvPr/>
        </p:nvSpPr>
        <p:spPr>
          <a:xfrm>
            <a:off x="4674140" y="6501384"/>
            <a:ext cx="41148" cy="41148"/>
          </a:xfrm>
          <a:prstGeom prst="ellipse">
            <a:avLst/>
          </a:prstGeom>
          <a:solidFill>
            <a:srgbClr val="3A4A52">
              <a:alpha val="5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16"/>
          <p:cNvSpPr/>
          <p:nvPr/>
        </p:nvSpPr>
        <p:spPr>
          <a:xfrm>
            <a:off x="4841456" y="6501384"/>
            <a:ext cx="41148" cy="41148"/>
          </a:xfrm>
          <a:prstGeom prst="ellipse">
            <a:avLst/>
          </a:prstGeom>
          <a:solidFill>
            <a:srgbClr val="3A4A52">
              <a:alpha val="5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6"/>
          <p:cNvSpPr/>
          <p:nvPr/>
        </p:nvSpPr>
        <p:spPr>
          <a:xfrm>
            <a:off x="5008772" y="6501384"/>
            <a:ext cx="41148" cy="41148"/>
          </a:xfrm>
          <a:prstGeom prst="ellipse">
            <a:avLst/>
          </a:prstGeom>
          <a:solidFill>
            <a:srgbClr val="3A4A52">
              <a:alpha val="5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16"/>
          <p:cNvSpPr/>
          <p:nvPr/>
        </p:nvSpPr>
        <p:spPr>
          <a:xfrm>
            <a:off x="5176088" y="6501384"/>
            <a:ext cx="41148" cy="41148"/>
          </a:xfrm>
          <a:prstGeom prst="ellipse">
            <a:avLst/>
          </a:prstGeom>
          <a:solidFill>
            <a:srgbClr val="3A4A52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16"/>
          <p:cNvSpPr/>
          <p:nvPr/>
        </p:nvSpPr>
        <p:spPr>
          <a:xfrm>
            <a:off x="5343403" y="6501384"/>
            <a:ext cx="41148" cy="41148"/>
          </a:xfrm>
          <a:prstGeom prst="ellipse">
            <a:avLst/>
          </a:prstGeom>
          <a:solidFill>
            <a:srgbClr val="3A4A52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16"/>
          <p:cNvSpPr/>
          <p:nvPr/>
        </p:nvSpPr>
        <p:spPr>
          <a:xfrm>
            <a:off x="5510719" y="6501384"/>
            <a:ext cx="41148" cy="41148"/>
          </a:xfrm>
          <a:prstGeom prst="ellipse">
            <a:avLst/>
          </a:prstGeom>
          <a:solidFill>
            <a:srgbClr val="3A4A5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16"/>
          <p:cNvSpPr/>
          <p:nvPr/>
        </p:nvSpPr>
        <p:spPr>
          <a:xfrm>
            <a:off x="5678035" y="6501384"/>
            <a:ext cx="41148" cy="41148"/>
          </a:xfrm>
          <a:prstGeom prst="ellipse">
            <a:avLst/>
          </a:prstGeom>
          <a:solidFill>
            <a:srgbClr val="3A4A5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16"/>
          <p:cNvSpPr/>
          <p:nvPr/>
        </p:nvSpPr>
        <p:spPr>
          <a:xfrm>
            <a:off x="5845351" y="6501384"/>
            <a:ext cx="41148" cy="41148"/>
          </a:xfrm>
          <a:prstGeom prst="ellipse">
            <a:avLst/>
          </a:prstGeom>
          <a:solidFill>
            <a:srgbClr val="3A4A52">
              <a:alpha val="4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16"/>
          <p:cNvSpPr/>
          <p:nvPr/>
        </p:nvSpPr>
        <p:spPr>
          <a:xfrm>
            <a:off x="6012666" y="6501384"/>
            <a:ext cx="41148" cy="41148"/>
          </a:xfrm>
          <a:prstGeom prst="ellipse">
            <a:avLst/>
          </a:prstGeom>
          <a:solidFill>
            <a:srgbClr val="3A4A52">
              <a:alpha val="4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16"/>
          <p:cNvSpPr/>
          <p:nvPr/>
        </p:nvSpPr>
        <p:spPr>
          <a:xfrm>
            <a:off x="6179982" y="6501384"/>
            <a:ext cx="41148" cy="41148"/>
          </a:xfrm>
          <a:prstGeom prst="ellipse">
            <a:avLst/>
          </a:prstGeom>
          <a:solidFill>
            <a:srgbClr val="3A4A52">
              <a:alpha val="4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16"/>
          <p:cNvSpPr/>
          <p:nvPr/>
        </p:nvSpPr>
        <p:spPr>
          <a:xfrm>
            <a:off x="6347298" y="6501384"/>
            <a:ext cx="41148" cy="41148"/>
          </a:xfrm>
          <a:prstGeom prst="ellipse">
            <a:avLst/>
          </a:prstGeom>
          <a:solidFill>
            <a:srgbClr val="3A4A52">
              <a:alpha val="4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16"/>
          <p:cNvSpPr/>
          <p:nvPr/>
        </p:nvSpPr>
        <p:spPr>
          <a:xfrm>
            <a:off x="6514614" y="6501384"/>
            <a:ext cx="41148" cy="41148"/>
          </a:xfrm>
          <a:prstGeom prst="ellipse">
            <a:avLst/>
          </a:prstGeom>
          <a:solidFill>
            <a:srgbClr val="3A4A52">
              <a:alpha val="4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16"/>
          <p:cNvSpPr/>
          <p:nvPr/>
        </p:nvSpPr>
        <p:spPr>
          <a:xfrm>
            <a:off x="6681929" y="6501384"/>
            <a:ext cx="41148" cy="41148"/>
          </a:xfrm>
          <a:prstGeom prst="ellipse">
            <a:avLst/>
          </a:prstGeom>
          <a:solidFill>
            <a:srgbClr val="3A4A52">
              <a:alpha val="4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16"/>
          <p:cNvSpPr/>
          <p:nvPr/>
        </p:nvSpPr>
        <p:spPr>
          <a:xfrm>
            <a:off x="6849245" y="6501384"/>
            <a:ext cx="41148" cy="41148"/>
          </a:xfrm>
          <a:prstGeom prst="ellipse">
            <a:avLst/>
          </a:prstGeom>
          <a:solidFill>
            <a:srgbClr val="3A4A52">
              <a:alpha val="4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6"/>
          <p:cNvSpPr/>
          <p:nvPr/>
        </p:nvSpPr>
        <p:spPr>
          <a:xfrm>
            <a:off x="7016561" y="6501384"/>
            <a:ext cx="41148" cy="41148"/>
          </a:xfrm>
          <a:prstGeom prst="ellipse">
            <a:avLst/>
          </a:prstGeom>
          <a:solidFill>
            <a:srgbClr val="3A4A5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16"/>
          <p:cNvSpPr/>
          <p:nvPr/>
        </p:nvSpPr>
        <p:spPr>
          <a:xfrm>
            <a:off x="7183877" y="6501384"/>
            <a:ext cx="41148" cy="41148"/>
          </a:xfrm>
          <a:prstGeom prst="ellipse">
            <a:avLst/>
          </a:prstGeom>
          <a:solidFill>
            <a:srgbClr val="3A4A5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6"/>
          <p:cNvSpPr/>
          <p:nvPr/>
        </p:nvSpPr>
        <p:spPr>
          <a:xfrm>
            <a:off x="7351192" y="6501384"/>
            <a:ext cx="41148" cy="41148"/>
          </a:xfrm>
          <a:prstGeom prst="ellipse">
            <a:avLst/>
          </a:prstGeom>
          <a:solidFill>
            <a:srgbClr val="3A4A52">
              <a:alpha val="4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6"/>
          <p:cNvSpPr/>
          <p:nvPr/>
        </p:nvSpPr>
        <p:spPr>
          <a:xfrm>
            <a:off x="7518508" y="6501384"/>
            <a:ext cx="41148" cy="41148"/>
          </a:xfrm>
          <a:prstGeom prst="ellipse">
            <a:avLst/>
          </a:prstGeom>
          <a:solidFill>
            <a:srgbClr val="3A4A52">
              <a:alpha val="4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16"/>
          <p:cNvSpPr/>
          <p:nvPr/>
        </p:nvSpPr>
        <p:spPr>
          <a:xfrm>
            <a:off x="7685824" y="6501384"/>
            <a:ext cx="41148" cy="41148"/>
          </a:xfrm>
          <a:prstGeom prst="ellipse">
            <a:avLst/>
          </a:prstGeom>
          <a:solidFill>
            <a:srgbClr val="3A4A52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6"/>
          <p:cNvSpPr/>
          <p:nvPr/>
        </p:nvSpPr>
        <p:spPr>
          <a:xfrm>
            <a:off x="7853140" y="6501384"/>
            <a:ext cx="41148" cy="41148"/>
          </a:xfrm>
          <a:prstGeom prst="ellipse">
            <a:avLst/>
          </a:prstGeom>
          <a:solidFill>
            <a:srgbClr val="3A4A52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6"/>
          <p:cNvSpPr/>
          <p:nvPr/>
        </p:nvSpPr>
        <p:spPr>
          <a:xfrm>
            <a:off x="8020455" y="6501384"/>
            <a:ext cx="41148" cy="41148"/>
          </a:xfrm>
          <a:prstGeom prst="ellipse">
            <a:avLst/>
          </a:prstGeom>
          <a:solidFill>
            <a:srgbClr val="3A4A52">
              <a:alpha val="4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6"/>
          <p:cNvSpPr/>
          <p:nvPr/>
        </p:nvSpPr>
        <p:spPr>
          <a:xfrm>
            <a:off x="8187771" y="6501384"/>
            <a:ext cx="41148" cy="41148"/>
          </a:xfrm>
          <a:prstGeom prst="ellipse">
            <a:avLst/>
          </a:prstGeom>
          <a:solidFill>
            <a:srgbClr val="3A4A52">
              <a:alpha val="4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6"/>
          <p:cNvSpPr/>
          <p:nvPr/>
        </p:nvSpPr>
        <p:spPr>
          <a:xfrm>
            <a:off x="8355087" y="6501384"/>
            <a:ext cx="41148" cy="41148"/>
          </a:xfrm>
          <a:prstGeom prst="ellipse">
            <a:avLst/>
          </a:prstGeom>
          <a:solidFill>
            <a:srgbClr val="3A4A52">
              <a:alpha val="4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6"/>
          <p:cNvSpPr/>
          <p:nvPr/>
        </p:nvSpPr>
        <p:spPr>
          <a:xfrm>
            <a:off x="8522403" y="6501384"/>
            <a:ext cx="41148" cy="41148"/>
          </a:xfrm>
          <a:prstGeom prst="ellipse">
            <a:avLst/>
          </a:prstGeom>
          <a:solidFill>
            <a:srgbClr val="3A4A52">
              <a:alpha val="4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6"/>
          <p:cNvSpPr/>
          <p:nvPr/>
        </p:nvSpPr>
        <p:spPr>
          <a:xfrm>
            <a:off x="8689718" y="6501384"/>
            <a:ext cx="41148" cy="41148"/>
          </a:xfrm>
          <a:prstGeom prst="ellipse">
            <a:avLst/>
          </a:prstGeom>
          <a:solidFill>
            <a:srgbClr val="3A4A5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6"/>
          <p:cNvSpPr/>
          <p:nvPr/>
        </p:nvSpPr>
        <p:spPr>
          <a:xfrm>
            <a:off x="8857034" y="6501384"/>
            <a:ext cx="41148" cy="41148"/>
          </a:xfrm>
          <a:prstGeom prst="ellipse">
            <a:avLst/>
          </a:prstGeom>
          <a:solidFill>
            <a:srgbClr val="3A4A5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6"/>
          <p:cNvSpPr/>
          <p:nvPr/>
        </p:nvSpPr>
        <p:spPr>
          <a:xfrm>
            <a:off x="9024350" y="6501384"/>
            <a:ext cx="41148" cy="41148"/>
          </a:xfrm>
          <a:prstGeom prst="ellipse">
            <a:avLst/>
          </a:prstGeom>
          <a:solidFill>
            <a:srgbClr val="3A4A52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6"/>
          <p:cNvSpPr/>
          <p:nvPr/>
        </p:nvSpPr>
        <p:spPr>
          <a:xfrm>
            <a:off x="9191666" y="6501384"/>
            <a:ext cx="41148" cy="41148"/>
          </a:xfrm>
          <a:prstGeom prst="ellipse">
            <a:avLst/>
          </a:prstGeom>
          <a:solidFill>
            <a:srgbClr val="3A4A52">
              <a:alpha val="3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6"/>
          <p:cNvSpPr/>
          <p:nvPr/>
        </p:nvSpPr>
        <p:spPr>
          <a:xfrm>
            <a:off x="9358981" y="6501384"/>
            <a:ext cx="41148" cy="41148"/>
          </a:xfrm>
          <a:prstGeom prst="ellipse">
            <a:avLst/>
          </a:prstGeom>
          <a:solidFill>
            <a:srgbClr val="3A4A52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6"/>
          <p:cNvSpPr/>
          <p:nvPr/>
        </p:nvSpPr>
        <p:spPr>
          <a:xfrm>
            <a:off x="9526297" y="6501384"/>
            <a:ext cx="41148" cy="41148"/>
          </a:xfrm>
          <a:prstGeom prst="ellipse">
            <a:avLst/>
          </a:prstGeom>
          <a:solidFill>
            <a:srgbClr val="3A4A52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16"/>
          <p:cNvSpPr/>
          <p:nvPr/>
        </p:nvSpPr>
        <p:spPr>
          <a:xfrm>
            <a:off x="9693613" y="6501384"/>
            <a:ext cx="41148" cy="41148"/>
          </a:xfrm>
          <a:prstGeom prst="ellipse">
            <a:avLst/>
          </a:prstGeom>
          <a:solidFill>
            <a:srgbClr val="3A4A52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16"/>
          <p:cNvSpPr/>
          <p:nvPr/>
        </p:nvSpPr>
        <p:spPr>
          <a:xfrm>
            <a:off x="9860929" y="6501384"/>
            <a:ext cx="41148" cy="41148"/>
          </a:xfrm>
          <a:prstGeom prst="ellipse">
            <a:avLst/>
          </a:prstGeom>
          <a:solidFill>
            <a:srgbClr val="3A4A52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6"/>
          <p:cNvSpPr/>
          <p:nvPr/>
        </p:nvSpPr>
        <p:spPr>
          <a:xfrm>
            <a:off x="10028244" y="6501384"/>
            <a:ext cx="41148" cy="41148"/>
          </a:xfrm>
          <a:prstGeom prst="ellipse">
            <a:avLst/>
          </a:prstGeom>
          <a:solidFill>
            <a:srgbClr val="3A4A52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6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3A4A52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16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7"/>
          <p:cNvSpPr/>
          <p:nvPr/>
        </p:nvSpPr>
        <p:spPr>
          <a:xfrm>
            <a:off x="827532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17"/>
          <p:cNvSpPr/>
          <p:nvPr/>
        </p:nvSpPr>
        <p:spPr>
          <a:xfrm>
            <a:off x="845820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7"/>
          <p:cNvSpPr/>
          <p:nvPr/>
        </p:nvSpPr>
        <p:spPr>
          <a:xfrm>
            <a:off x="864108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7"/>
          <p:cNvSpPr/>
          <p:nvPr/>
        </p:nvSpPr>
        <p:spPr>
          <a:xfrm>
            <a:off x="882396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7"/>
          <p:cNvSpPr/>
          <p:nvPr/>
        </p:nvSpPr>
        <p:spPr>
          <a:xfrm>
            <a:off x="900684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17"/>
          <p:cNvSpPr/>
          <p:nvPr/>
        </p:nvSpPr>
        <p:spPr>
          <a:xfrm>
            <a:off x="918972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7"/>
          <p:cNvSpPr/>
          <p:nvPr/>
        </p:nvSpPr>
        <p:spPr>
          <a:xfrm>
            <a:off x="937260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17"/>
          <p:cNvSpPr/>
          <p:nvPr/>
        </p:nvSpPr>
        <p:spPr>
          <a:xfrm>
            <a:off x="955548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7"/>
          <p:cNvSpPr/>
          <p:nvPr/>
        </p:nvSpPr>
        <p:spPr>
          <a:xfrm>
            <a:off x="973836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17"/>
          <p:cNvSpPr/>
          <p:nvPr/>
        </p:nvSpPr>
        <p:spPr>
          <a:xfrm>
            <a:off x="992124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7"/>
          <p:cNvSpPr/>
          <p:nvPr/>
        </p:nvSpPr>
        <p:spPr>
          <a:xfrm>
            <a:off x="1010412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7"/>
          <p:cNvSpPr/>
          <p:nvPr/>
        </p:nvSpPr>
        <p:spPr>
          <a:xfrm>
            <a:off x="1028700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17"/>
          <p:cNvSpPr/>
          <p:nvPr/>
        </p:nvSpPr>
        <p:spPr>
          <a:xfrm>
            <a:off x="1046988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7"/>
          <p:cNvSpPr/>
          <p:nvPr/>
        </p:nvSpPr>
        <p:spPr>
          <a:xfrm>
            <a:off x="1065276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7"/>
          <p:cNvSpPr/>
          <p:nvPr/>
        </p:nvSpPr>
        <p:spPr>
          <a:xfrm>
            <a:off x="1083564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7"/>
          <p:cNvSpPr/>
          <p:nvPr/>
        </p:nvSpPr>
        <p:spPr>
          <a:xfrm>
            <a:off x="1101852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7"/>
          <p:cNvSpPr/>
          <p:nvPr/>
        </p:nvSpPr>
        <p:spPr>
          <a:xfrm>
            <a:off x="1120140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7"/>
          <p:cNvSpPr/>
          <p:nvPr/>
        </p:nvSpPr>
        <p:spPr>
          <a:xfrm>
            <a:off x="11384280" y="2103120"/>
            <a:ext cx="50292" cy="50292"/>
          </a:xfrm>
          <a:prstGeom prst="ellipse">
            <a:avLst/>
          </a:prstGeom>
          <a:solidFill>
            <a:srgbClr val="20B6F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7"/>
          <p:cNvSpPr/>
          <p:nvPr/>
        </p:nvSpPr>
        <p:spPr>
          <a:xfrm>
            <a:off x="827532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7"/>
          <p:cNvSpPr/>
          <p:nvPr/>
        </p:nvSpPr>
        <p:spPr>
          <a:xfrm>
            <a:off x="845820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7"/>
          <p:cNvSpPr/>
          <p:nvPr/>
        </p:nvSpPr>
        <p:spPr>
          <a:xfrm>
            <a:off x="864108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7"/>
          <p:cNvSpPr/>
          <p:nvPr/>
        </p:nvSpPr>
        <p:spPr>
          <a:xfrm>
            <a:off x="882396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7"/>
          <p:cNvSpPr/>
          <p:nvPr/>
        </p:nvSpPr>
        <p:spPr>
          <a:xfrm>
            <a:off x="900684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7"/>
          <p:cNvSpPr/>
          <p:nvPr/>
        </p:nvSpPr>
        <p:spPr>
          <a:xfrm>
            <a:off x="918972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7"/>
          <p:cNvSpPr/>
          <p:nvPr/>
        </p:nvSpPr>
        <p:spPr>
          <a:xfrm>
            <a:off x="937260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7"/>
          <p:cNvSpPr/>
          <p:nvPr/>
        </p:nvSpPr>
        <p:spPr>
          <a:xfrm>
            <a:off x="955548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7"/>
          <p:cNvSpPr/>
          <p:nvPr/>
        </p:nvSpPr>
        <p:spPr>
          <a:xfrm>
            <a:off x="973836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17"/>
          <p:cNvSpPr/>
          <p:nvPr/>
        </p:nvSpPr>
        <p:spPr>
          <a:xfrm>
            <a:off x="992124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7"/>
          <p:cNvSpPr/>
          <p:nvPr/>
        </p:nvSpPr>
        <p:spPr>
          <a:xfrm>
            <a:off x="1010412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7"/>
          <p:cNvSpPr/>
          <p:nvPr/>
        </p:nvSpPr>
        <p:spPr>
          <a:xfrm>
            <a:off x="1028700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17"/>
          <p:cNvSpPr/>
          <p:nvPr/>
        </p:nvSpPr>
        <p:spPr>
          <a:xfrm>
            <a:off x="1046988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7"/>
          <p:cNvSpPr/>
          <p:nvPr/>
        </p:nvSpPr>
        <p:spPr>
          <a:xfrm>
            <a:off x="1065276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7"/>
          <p:cNvSpPr/>
          <p:nvPr/>
        </p:nvSpPr>
        <p:spPr>
          <a:xfrm>
            <a:off x="1083564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17"/>
          <p:cNvSpPr/>
          <p:nvPr/>
        </p:nvSpPr>
        <p:spPr>
          <a:xfrm>
            <a:off x="1101852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7"/>
          <p:cNvSpPr/>
          <p:nvPr/>
        </p:nvSpPr>
        <p:spPr>
          <a:xfrm>
            <a:off x="1120140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7"/>
          <p:cNvSpPr/>
          <p:nvPr/>
        </p:nvSpPr>
        <p:spPr>
          <a:xfrm>
            <a:off x="11384280" y="2286000"/>
            <a:ext cx="50292" cy="50292"/>
          </a:xfrm>
          <a:prstGeom prst="ellipse">
            <a:avLst/>
          </a:prstGeom>
          <a:solidFill>
            <a:srgbClr val="20B6F3">
              <a:alpha val="4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7"/>
          <p:cNvSpPr/>
          <p:nvPr/>
        </p:nvSpPr>
        <p:spPr>
          <a:xfrm>
            <a:off x="827532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7"/>
          <p:cNvSpPr/>
          <p:nvPr/>
        </p:nvSpPr>
        <p:spPr>
          <a:xfrm>
            <a:off x="845820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7"/>
          <p:cNvSpPr/>
          <p:nvPr/>
        </p:nvSpPr>
        <p:spPr>
          <a:xfrm>
            <a:off x="864108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7"/>
          <p:cNvSpPr/>
          <p:nvPr/>
        </p:nvSpPr>
        <p:spPr>
          <a:xfrm>
            <a:off x="882396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7"/>
          <p:cNvSpPr/>
          <p:nvPr/>
        </p:nvSpPr>
        <p:spPr>
          <a:xfrm>
            <a:off x="900684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17"/>
          <p:cNvSpPr/>
          <p:nvPr/>
        </p:nvSpPr>
        <p:spPr>
          <a:xfrm>
            <a:off x="918972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7"/>
          <p:cNvSpPr/>
          <p:nvPr/>
        </p:nvSpPr>
        <p:spPr>
          <a:xfrm>
            <a:off x="937260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7"/>
          <p:cNvSpPr/>
          <p:nvPr/>
        </p:nvSpPr>
        <p:spPr>
          <a:xfrm>
            <a:off x="955548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17"/>
          <p:cNvSpPr/>
          <p:nvPr/>
        </p:nvSpPr>
        <p:spPr>
          <a:xfrm>
            <a:off x="973836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17"/>
          <p:cNvSpPr/>
          <p:nvPr/>
        </p:nvSpPr>
        <p:spPr>
          <a:xfrm>
            <a:off x="992124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7"/>
          <p:cNvSpPr/>
          <p:nvPr/>
        </p:nvSpPr>
        <p:spPr>
          <a:xfrm>
            <a:off x="1010412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7"/>
          <p:cNvSpPr/>
          <p:nvPr/>
        </p:nvSpPr>
        <p:spPr>
          <a:xfrm>
            <a:off x="1028700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7"/>
          <p:cNvSpPr/>
          <p:nvPr/>
        </p:nvSpPr>
        <p:spPr>
          <a:xfrm>
            <a:off x="1046988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7"/>
          <p:cNvSpPr/>
          <p:nvPr/>
        </p:nvSpPr>
        <p:spPr>
          <a:xfrm>
            <a:off x="1065276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17"/>
          <p:cNvSpPr/>
          <p:nvPr/>
        </p:nvSpPr>
        <p:spPr>
          <a:xfrm>
            <a:off x="1083564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17"/>
          <p:cNvSpPr/>
          <p:nvPr/>
        </p:nvSpPr>
        <p:spPr>
          <a:xfrm>
            <a:off x="1101852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7"/>
          <p:cNvSpPr/>
          <p:nvPr/>
        </p:nvSpPr>
        <p:spPr>
          <a:xfrm>
            <a:off x="1120140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17"/>
          <p:cNvSpPr/>
          <p:nvPr/>
        </p:nvSpPr>
        <p:spPr>
          <a:xfrm>
            <a:off x="11384280" y="2468880"/>
            <a:ext cx="50292" cy="50292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7"/>
          <p:cNvSpPr/>
          <p:nvPr/>
        </p:nvSpPr>
        <p:spPr>
          <a:xfrm>
            <a:off x="827532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17"/>
          <p:cNvSpPr/>
          <p:nvPr/>
        </p:nvSpPr>
        <p:spPr>
          <a:xfrm>
            <a:off x="845820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7"/>
          <p:cNvSpPr/>
          <p:nvPr/>
        </p:nvSpPr>
        <p:spPr>
          <a:xfrm>
            <a:off x="864108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17"/>
          <p:cNvSpPr/>
          <p:nvPr/>
        </p:nvSpPr>
        <p:spPr>
          <a:xfrm>
            <a:off x="882396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7"/>
          <p:cNvSpPr/>
          <p:nvPr/>
        </p:nvSpPr>
        <p:spPr>
          <a:xfrm>
            <a:off x="900684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17"/>
          <p:cNvSpPr/>
          <p:nvPr/>
        </p:nvSpPr>
        <p:spPr>
          <a:xfrm>
            <a:off x="918972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17"/>
          <p:cNvSpPr/>
          <p:nvPr/>
        </p:nvSpPr>
        <p:spPr>
          <a:xfrm>
            <a:off x="937260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17"/>
          <p:cNvSpPr/>
          <p:nvPr/>
        </p:nvSpPr>
        <p:spPr>
          <a:xfrm>
            <a:off x="955548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17"/>
          <p:cNvSpPr/>
          <p:nvPr/>
        </p:nvSpPr>
        <p:spPr>
          <a:xfrm>
            <a:off x="973836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17"/>
          <p:cNvSpPr/>
          <p:nvPr/>
        </p:nvSpPr>
        <p:spPr>
          <a:xfrm>
            <a:off x="992124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7"/>
          <p:cNvSpPr/>
          <p:nvPr/>
        </p:nvSpPr>
        <p:spPr>
          <a:xfrm>
            <a:off x="1010412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17"/>
          <p:cNvSpPr/>
          <p:nvPr/>
        </p:nvSpPr>
        <p:spPr>
          <a:xfrm>
            <a:off x="1028700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17"/>
          <p:cNvSpPr/>
          <p:nvPr/>
        </p:nvSpPr>
        <p:spPr>
          <a:xfrm>
            <a:off x="1046988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7"/>
          <p:cNvSpPr/>
          <p:nvPr/>
        </p:nvSpPr>
        <p:spPr>
          <a:xfrm>
            <a:off x="1065276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7"/>
          <p:cNvSpPr/>
          <p:nvPr/>
        </p:nvSpPr>
        <p:spPr>
          <a:xfrm>
            <a:off x="1083564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17"/>
          <p:cNvSpPr/>
          <p:nvPr/>
        </p:nvSpPr>
        <p:spPr>
          <a:xfrm>
            <a:off x="1101852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7"/>
          <p:cNvSpPr/>
          <p:nvPr/>
        </p:nvSpPr>
        <p:spPr>
          <a:xfrm>
            <a:off x="1120140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7"/>
          <p:cNvSpPr/>
          <p:nvPr/>
        </p:nvSpPr>
        <p:spPr>
          <a:xfrm>
            <a:off x="11384280" y="2651760"/>
            <a:ext cx="50292" cy="50292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17"/>
          <p:cNvSpPr/>
          <p:nvPr/>
        </p:nvSpPr>
        <p:spPr>
          <a:xfrm>
            <a:off x="827532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17"/>
          <p:cNvSpPr/>
          <p:nvPr/>
        </p:nvSpPr>
        <p:spPr>
          <a:xfrm>
            <a:off x="845820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17"/>
          <p:cNvSpPr/>
          <p:nvPr/>
        </p:nvSpPr>
        <p:spPr>
          <a:xfrm>
            <a:off x="864108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17"/>
          <p:cNvSpPr/>
          <p:nvPr/>
        </p:nvSpPr>
        <p:spPr>
          <a:xfrm>
            <a:off x="882396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7"/>
          <p:cNvSpPr/>
          <p:nvPr/>
        </p:nvSpPr>
        <p:spPr>
          <a:xfrm>
            <a:off x="900684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17"/>
          <p:cNvSpPr/>
          <p:nvPr/>
        </p:nvSpPr>
        <p:spPr>
          <a:xfrm>
            <a:off x="918972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7"/>
          <p:cNvSpPr/>
          <p:nvPr/>
        </p:nvSpPr>
        <p:spPr>
          <a:xfrm>
            <a:off x="937260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17"/>
          <p:cNvSpPr/>
          <p:nvPr/>
        </p:nvSpPr>
        <p:spPr>
          <a:xfrm>
            <a:off x="955548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7"/>
          <p:cNvSpPr/>
          <p:nvPr/>
        </p:nvSpPr>
        <p:spPr>
          <a:xfrm>
            <a:off x="973836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17"/>
          <p:cNvSpPr/>
          <p:nvPr/>
        </p:nvSpPr>
        <p:spPr>
          <a:xfrm>
            <a:off x="992124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17"/>
          <p:cNvSpPr/>
          <p:nvPr/>
        </p:nvSpPr>
        <p:spPr>
          <a:xfrm>
            <a:off x="1010412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17"/>
          <p:cNvSpPr/>
          <p:nvPr/>
        </p:nvSpPr>
        <p:spPr>
          <a:xfrm>
            <a:off x="1028700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7"/>
          <p:cNvSpPr/>
          <p:nvPr/>
        </p:nvSpPr>
        <p:spPr>
          <a:xfrm>
            <a:off x="1046988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7"/>
          <p:cNvSpPr/>
          <p:nvPr/>
        </p:nvSpPr>
        <p:spPr>
          <a:xfrm>
            <a:off x="1065276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17"/>
          <p:cNvSpPr/>
          <p:nvPr/>
        </p:nvSpPr>
        <p:spPr>
          <a:xfrm>
            <a:off x="1083564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17"/>
          <p:cNvSpPr/>
          <p:nvPr/>
        </p:nvSpPr>
        <p:spPr>
          <a:xfrm>
            <a:off x="1101852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17"/>
          <p:cNvSpPr/>
          <p:nvPr/>
        </p:nvSpPr>
        <p:spPr>
          <a:xfrm>
            <a:off x="1120140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17"/>
          <p:cNvSpPr/>
          <p:nvPr/>
        </p:nvSpPr>
        <p:spPr>
          <a:xfrm>
            <a:off x="11384280" y="2834640"/>
            <a:ext cx="50292" cy="50292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17"/>
          <p:cNvSpPr/>
          <p:nvPr/>
        </p:nvSpPr>
        <p:spPr>
          <a:xfrm>
            <a:off x="827532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17"/>
          <p:cNvSpPr/>
          <p:nvPr/>
        </p:nvSpPr>
        <p:spPr>
          <a:xfrm>
            <a:off x="845820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7"/>
          <p:cNvSpPr/>
          <p:nvPr/>
        </p:nvSpPr>
        <p:spPr>
          <a:xfrm>
            <a:off x="864108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17"/>
          <p:cNvSpPr/>
          <p:nvPr/>
        </p:nvSpPr>
        <p:spPr>
          <a:xfrm>
            <a:off x="882396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17"/>
          <p:cNvSpPr/>
          <p:nvPr/>
        </p:nvSpPr>
        <p:spPr>
          <a:xfrm>
            <a:off x="900684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17"/>
          <p:cNvSpPr/>
          <p:nvPr/>
        </p:nvSpPr>
        <p:spPr>
          <a:xfrm>
            <a:off x="918972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7"/>
          <p:cNvSpPr/>
          <p:nvPr/>
        </p:nvSpPr>
        <p:spPr>
          <a:xfrm>
            <a:off x="937260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7"/>
          <p:cNvSpPr/>
          <p:nvPr/>
        </p:nvSpPr>
        <p:spPr>
          <a:xfrm>
            <a:off x="955548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7"/>
          <p:cNvSpPr/>
          <p:nvPr/>
        </p:nvSpPr>
        <p:spPr>
          <a:xfrm>
            <a:off x="973836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7"/>
          <p:cNvSpPr/>
          <p:nvPr/>
        </p:nvSpPr>
        <p:spPr>
          <a:xfrm>
            <a:off x="992124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7"/>
          <p:cNvSpPr/>
          <p:nvPr/>
        </p:nvSpPr>
        <p:spPr>
          <a:xfrm>
            <a:off x="1010412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17"/>
          <p:cNvSpPr/>
          <p:nvPr/>
        </p:nvSpPr>
        <p:spPr>
          <a:xfrm>
            <a:off x="1028700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17"/>
          <p:cNvSpPr/>
          <p:nvPr/>
        </p:nvSpPr>
        <p:spPr>
          <a:xfrm>
            <a:off x="1046988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17"/>
          <p:cNvSpPr/>
          <p:nvPr/>
        </p:nvSpPr>
        <p:spPr>
          <a:xfrm>
            <a:off x="1065276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7"/>
          <p:cNvSpPr/>
          <p:nvPr/>
        </p:nvSpPr>
        <p:spPr>
          <a:xfrm>
            <a:off x="1083564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17"/>
          <p:cNvSpPr/>
          <p:nvPr/>
        </p:nvSpPr>
        <p:spPr>
          <a:xfrm>
            <a:off x="1101852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17"/>
          <p:cNvSpPr/>
          <p:nvPr/>
        </p:nvSpPr>
        <p:spPr>
          <a:xfrm>
            <a:off x="1120140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17"/>
          <p:cNvSpPr/>
          <p:nvPr/>
        </p:nvSpPr>
        <p:spPr>
          <a:xfrm>
            <a:off x="11384280" y="3017520"/>
            <a:ext cx="50292" cy="50292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7"/>
          <p:cNvSpPr/>
          <p:nvPr/>
        </p:nvSpPr>
        <p:spPr>
          <a:xfrm>
            <a:off x="685800" y="210312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17"/>
          <p:cNvSpPr/>
          <p:nvPr/>
        </p:nvSpPr>
        <p:spPr>
          <a:xfrm>
            <a:off x="685800" y="2971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8A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A78A6"/>
                </a:solidFill>
                <a:latin typeface="Arial"/>
                <a:ea typeface="Arial"/>
                <a:cs typeface="Arial"/>
                <a:sym typeface="Arial"/>
              </a:rPr>
              <a:t>Thank you — [Account Team], Lockhern Digital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17"/>
          <p:cNvSpPr/>
          <p:nvPr/>
        </p:nvSpPr>
        <p:spPr>
          <a:xfrm>
            <a:off x="685800" y="34015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07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F7074"/>
                </a:solidFill>
                <a:latin typeface="Arial"/>
                <a:ea typeface="Arial"/>
                <a:cs typeface="Arial"/>
                <a:sym typeface="Arial"/>
              </a:rPr>
              <a:t>[name@lockherndigital.com]   ·   [phone]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d_color.png" id="1803" name="Google Shape;18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069080"/>
            <a:ext cx="2286000" cy="845546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17"/>
          <p:cNvSpPr/>
          <p:nvPr/>
        </p:nvSpPr>
        <p:spPr>
          <a:xfrm>
            <a:off x="457200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7"/>
          <p:cNvSpPr/>
          <p:nvPr/>
        </p:nvSpPr>
        <p:spPr>
          <a:xfrm>
            <a:off x="625103" y="6382512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17"/>
          <p:cNvSpPr/>
          <p:nvPr/>
        </p:nvSpPr>
        <p:spPr>
          <a:xfrm>
            <a:off x="793006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17"/>
          <p:cNvSpPr/>
          <p:nvPr/>
        </p:nvSpPr>
        <p:spPr>
          <a:xfrm>
            <a:off x="960908" y="6382512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7"/>
          <p:cNvSpPr/>
          <p:nvPr/>
        </p:nvSpPr>
        <p:spPr>
          <a:xfrm>
            <a:off x="1128811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17"/>
          <p:cNvSpPr/>
          <p:nvPr/>
        </p:nvSpPr>
        <p:spPr>
          <a:xfrm>
            <a:off x="1296714" y="6382512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17"/>
          <p:cNvSpPr/>
          <p:nvPr/>
        </p:nvSpPr>
        <p:spPr>
          <a:xfrm>
            <a:off x="1464617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7"/>
          <p:cNvSpPr/>
          <p:nvPr/>
        </p:nvSpPr>
        <p:spPr>
          <a:xfrm>
            <a:off x="1632519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7"/>
          <p:cNvSpPr/>
          <p:nvPr/>
        </p:nvSpPr>
        <p:spPr>
          <a:xfrm>
            <a:off x="1800422" y="6382512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17"/>
          <p:cNvSpPr/>
          <p:nvPr/>
        </p:nvSpPr>
        <p:spPr>
          <a:xfrm>
            <a:off x="1968325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17"/>
          <p:cNvSpPr/>
          <p:nvPr/>
        </p:nvSpPr>
        <p:spPr>
          <a:xfrm>
            <a:off x="2136228" y="6382512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17"/>
          <p:cNvSpPr/>
          <p:nvPr/>
        </p:nvSpPr>
        <p:spPr>
          <a:xfrm>
            <a:off x="2304130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17"/>
          <p:cNvSpPr/>
          <p:nvPr/>
        </p:nvSpPr>
        <p:spPr>
          <a:xfrm>
            <a:off x="2472033" y="6382512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17"/>
          <p:cNvSpPr/>
          <p:nvPr/>
        </p:nvSpPr>
        <p:spPr>
          <a:xfrm>
            <a:off x="2639936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17"/>
          <p:cNvSpPr/>
          <p:nvPr/>
        </p:nvSpPr>
        <p:spPr>
          <a:xfrm>
            <a:off x="2807839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17"/>
          <p:cNvSpPr/>
          <p:nvPr/>
        </p:nvSpPr>
        <p:spPr>
          <a:xfrm>
            <a:off x="2975741" y="6382512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17"/>
          <p:cNvSpPr/>
          <p:nvPr/>
        </p:nvSpPr>
        <p:spPr>
          <a:xfrm>
            <a:off x="3143644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17"/>
          <p:cNvSpPr/>
          <p:nvPr/>
        </p:nvSpPr>
        <p:spPr>
          <a:xfrm>
            <a:off x="3311547" y="6382512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7"/>
          <p:cNvSpPr/>
          <p:nvPr/>
        </p:nvSpPr>
        <p:spPr>
          <a:xfrm>
            <a:off x="3479450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7"/>
          <p:cNvSpPr/>
          <p:nvPr/>
        </p:nvSpPr>
        <p:spPr>
          <a:xfrm>
            <a:off x="3647352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7"/>
          <p:cNvSpPr/>
          <p:nvPr/>
        </p:nvSpPr>
        <p:spPr>
          <a:xfrm>
            <a:off x="3815255" y="6382512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7"/>
          <p:cNvSpPr/>
          <p:nvPr/>
        </p:nvSpPr>
        <p:spPr>
          <a:xfrm>
            <a:off x="3983158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7"/>
          <p:cNvSpPr/>
          <p:nvPr/>
        </p:nvSpPr>
        <p:spPr>
          <a:xfrm>
            <a:off x="4151061" y="6382512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7"/>
          <p:cNvSpPr/>
          <p:nvPr/>
        </p:nvSpPr>
        <p:spPr>
          <a:xfrm>
            <a:off x="4318963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7"/>
          <p:cNvSpPr/>
          <p:nvPr/>
        </p:nvSpPr>
        <p:spPr>
          <a:xfrm>
            <a:off x="4486866" y="6382512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17"/>
          <p:cNvSpPr/>
          <p:nvPr/>
        </p:nvSpPr>
        <p:spPr>
          <a:xfrm>
            <a:off x="4654769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7"/>
          <p:cNvSpPr/>
          <p:nvPr/>
        </p:nvSpPr>
        <p:spPr>
          <a:xfrm>
            <a:off x="4822672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7"/>
          <p:cNvSpPr/>
          <p:nvPr/>
        </p:nvSpPr>
        <p:spPr>
          <a:xfrm>
            <a:off x="4990574" y="6382512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17"/>
          <p:cNvSpPr/>
          <p:nvPr/>
        </p:nvSpPr>
        <p:spPr>
          <a:xfrm>
            <a:off x="5158477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7"/>
          <p:cNvSpPr/>
          <p:nvPr/>
        </p:nvSpPr>
        <p:spPr>
          <a:xfrm>
            <a:off x="5326380" y="6382512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7"/>
          <p:cNvSpPr/>
          <p:nvPr/>
        </p:nvSpPr>
        <p:spPr>
          <a:xfrm>
            <a:off x="5494283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7"/>
          <p:cNvSpPr/>
          <p:nvPr/>
        </p:nvSpPr>
        <p:spPr>
          <a:xfrm>
            <a:off x="5662186" y="6382512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17"/>
          <p:cNvSpPr/>
          <p:nvPr/>
        </p:nvSpPr>
        <p:spPr>
          <a:xfrm>
            <a:off x="5830088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7"/>
          <p:cNvSpPr/>
          <p:nvPr/>
        </p:nvSpPr>
        <p:spPr>
          <a:xfrm>
            <a:off x="5997991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7"/>
          <p:cNvSpPr/>
          <p:nvPr/>
        </p:nvSpPr>
        <p:spPr>
          <a:xfrm>
            <a:off x="6165894" y="6382512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17"/>
          <p:cNvSpPr/>
          <p:nvPr/>
        </p:nvSpPr>
        <p:spPr>
          <a:xfrm>
            <a:off x="6333797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17"/>
          <p:cNvSpPr/>
          <p:nvPr/>
        </p:nvSpPr>
        <p:spPr>
          <a:xfrm>
            <a:off x="6501699" y="6382512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17"/>
          <p:cNvSpPr/>
          <p:nvPr/>
        </p:nvSpPr>
        <p:spPr>
          <a:xfrm>
            <a:off x="6669602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7"/>
          <p:cNvSpPr/>
          <p:nvPr/>
        </p:nvSpPr>
        <p:spPr>
          <a:xfrm>
            <a:off x="6837505" y="6382512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7"/>
          <p:cNvSpPr/>
          <p:nvPr/>
        </p:nvSpPr>
        <p:spPr>
          <a:xfrm>
            <a:off x="7005408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17"/>
          <p:cNvSpPr/>
          <p:nvPr/>
        </p:nvSpPr>
        <p:spPr>
          <a:xfrm>
            <a:off x="7173310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7"/>
          <p:cNvSpPr/>
          <p:nvPr/>
        </p:nvSpPr>
        <p:spPr>
          <a:xfrm>
            <a:off x="7341213" y="6382512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17"/>
          <p:cNvSpPr/>
          <p:nvPr/>
        </p:nvSpPr>
        <p:spPr>
          <a:xfrm>
            <a:off x="7509116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7"/>
          <p:cNvSpPr/>
          <p:nvPr/>
        </p:nvSpPr>
        <p:spPr>
          <a:xfrm>
            <a:off x="7677019" y="6382512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7"/>
          <p:cNvSpPr/>
          <p:nvPr/>
        </p:nvSpPr>
        <p:spPr>
          <a:xfrm>
            <a:off x="7844921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17"/>
          <p:cNvSpPr/>
          <p:nvPr/>
        </p:nvSpPr>
        <p:spPr>
          <a:xfrm>
            <a:off x="8012824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17"/>
          <p:cNvSpPr/>
          <p:nvPr/>
        </p:nvSpPr>
        <p:spPr>
          <a:xfrm>
            <a:off x="8180727" y="6382512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7"/>
          <p:cNvSpPr/>
          <p:nvPr/>
        </p:nvSpPr>
        <p:spPr>
          <a:xfrm>
            <a:off x="8348630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17"/>
          <p:cNvSpPr/>
          <p:nvPr/>
        </p:nvSpPr>
        <p:spPr>
          <a:xfrm>
            <a:off x="8516532" y="6382512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17"/>
          <p:cNvSpPr/>
          <p:nvPr/>
        </p:nvSpPr>
        <p:spPr>
          <a:xfrm>
            <a:off x="8684435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7"/>
          <p:cNvSpPr/>
          <p:nvPr/>
        </p:nvSpPr>
        <p:spPr>
          <a:xfrm>
            <a:off x="8852338" y="6382512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17"/>
          <p:cNvSpPr/>
          <p:nvPr/>
        </p:nvSpPr>
        <p:spPr>
          <a:xfrm>
            <a:off x="9020241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17"/>
          <p:cNvSpPr/>
          <p:nvPr/>
        </p:nvSpPr>
        <p:spPr>
          <a:xfrm>
            <a:off x="9188143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17"/>
          <p:cNvSpPr/>
          <p:nvPr/>
        </p:nvSpPr>
        <p:spPr>
          <a:xfrm>
            <a:off x="9356046" y="6382512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7"/>
          <p:cNvSpPr/>
          <p:nvPr/>
        </p:nvSpPr>
        <p:spPr>
          <a:xfrm>
            <a:off x="9523949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17"/>
          <p:cNvSpPr/>
          <p:nvPr/>
        </p:nvSpPr>
        <p:spPr>
          <a:xfrm>
            <a:off x="9691852" y="6382512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17"/>
          <p:cNvSpPr/>
          <p:nvPr/>
        </p:nvSpPr>
        <p:spPr>
          <a:xfrm>
            <a:off x="9859754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17"/>
          <p:cNvSpPr/>
          <p:nvPr/>
        </p:nvSpPr>
        <p:spPr>
          <a:xfrm>
            <a:off x="10027657" y="6382512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17"/>
          <p:cNvSpPr/>
          <p:nvPr/>
        </p:nvSpPr>
        <p:spPr>
          <a:xfrm>
            <a:off x="10195560" y="6382512"/>
            <a:ext cx="41148" cy="41148"/>
          </a:xfrm>
          <a:prstGeom prst="ellipse">
            <a:avLst/>
          </a:prstGeom>
          <a:solidFill>
            <a:srgbClr val="20B6F3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17"/>
          <p:cNvSpPr/>
          <p:nvPr/>
        </p:nvSpPr>
        <p:spPr>
          <a:xfrm>
            <a:off x="457200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17"/>
          <p:cNvSpPr/>
          <p:nvPr/>
        </p:nvSpPr>
        <p:spPr>
          <a:xfrm>
            <a:off x="625103" y="6501384"/>
            <a:ext cx="41148" cy="41148"/>
          </a:xfrm>
          <a:prstGeom prst="ellipse">
            <a:avLst/>
          </a:prstGeom>
          <a:solidFill>
            <a:srgbClr val="20B6F3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7"/>
          <p:cNvSpPr/>
          <p:nvPr/>
        </p:nvSpPr>
        <p:spPr>
          <a:xfrm>
            <a:off x="793006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17"/>
          <p:cNvSpPr/>
          <p:nvPr/>
        </p:nvSpPr>
        <p:spPr>
          <a:xfrm>
            <a:off x="960908" y="6501384"/>
            <a:ext cx="41148" cy="41148"/>
          </a:xfrm>
          <a:prstGeom prst="ellipse">
            <a:avLst/>
          </a:prstGeom>
          <a:solidFill>
            <a:srgbClr val="20B6F3">
              <a:alpha val="3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7"/>
          <p:cNvSpPr/>
          <p:nvPr/>
        </p:nvSpPr>
        <p:spPr>
          <a:xfrm>
            <a:off x="1128811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17"/>
          <p:cNvSpPr/>
          <p:nvPr/>
        </p:nvSpPr>
        <p:spPr>
          <a:xfrm>
            <a:off x="1296714" y="6501384"/>
            <a:ext cx="41148" cy="41148"/>
          </a:xfrm>
          <a:prstGeom prst="ellipse">
            <a:avLst/>
          </a:prstGeom>
          <a:solidFill>
            <a:srgbClr val="20B6F3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17"/>
          <p:cNvSpPr/>
          <p:nvPr/>
        </p:nvSpPr>
        <p:spPr>
          <a:xfrm>
            <a:off x="1464617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17"/>
          <p:cNvSpPr/>
          <p:nvPr/>
        </p:nvSpPr>
        <p:spPr>
          <a:xfrm>
            <a:off x="1632519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17"/>
          <p:cNvSpPr/>
          <p:nvPr/>
        </p:nvSpPr>
        <p:spPr>
          <a:xfrm>
            <a:off x="1800422" y="6501384"/>
            <a:ext cx="41148" cy="41148"/>
          </a:xfrm>
          <a:prstGeom prst="ellipse">
            <a:avLst/>
          </a:prstGeom>
          <a:solidFill>
            <a:srgbClr val="20B6F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17"/>
          <p:cNvSpPr/>
          <p:nvPr/>
        </p:nvSpPr>
        <p:spPr>
          <a:xfrm>
            <a:off x="1968325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17"/>
          <p:cNvSpPr/>
          <p:nvPr/>
        </p:nvSpPr>
        <p:spPr>
          <a:xfrm>
            <a:off x="2136228" y="6501384"/>
            <a:ext cx="41148" cy="41148"/>
          </a:xfrm>
          <a:prstGeom prst="ellipse">
            <a:avLst/>
          </a:prstGeom>
          <a:solidFill>
            <a:srgbClr val="20B6F3">
              <a:alpha val="3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17"/>
          <p:cNvSpPr/>
          <p:nvPr/>
        </p:nvSpPr>
        <p:spPr>
          <a:xfrm>
            <a:off x="2304130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17"/>
          <p:cNvSpPr/>
          <p:nvPr/>
        </p:nvSpPr>
        <p:spPr>
          <a:xfrm>
            <a:off x="2472033" y="6501384"/>
            <a:ext cx="41148" cy="41148"/>
          </a:xfrm>
          <a:prstGeom prst="ellipse">
            <a:avLst/>
          </a:prstGeom>
          <a:solidFill>
            <a:srgbClr val="20B6F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7"/>
          <p:cNvSpPr/>
          <p:nvPr/>
        </p:nvSpPr>
        <p:spPr>
          <a:xfrm>
            <a:off x="2639936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17"/>
          <p:cNvSpPr/>
          <p:nvPr/>
        </p:nvSpPr>
        <p:spPr>
          <a:xfrm>
            <a:off x="2807839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17"/>
          <p:cNvSpPr/>
          <p:nvPr/>
        </p:nvSpPr>
        <p:spPr>
          <a:xfrm>
            <a:off x="2975741" y="6501384"/>
            <a:ext cx="41148" cy="41148"/>
          </a:xfrm>
          <a:prstGeom prst="ellipse">
            <a:avLst/>
          </a:prstGeom>
          <a:solidFill>
            <a:srgbClr val="20B6F3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17"/>
          <p:cNvSpPr/>
          <p:nvPr/>
        </p:nvSpPr>
        <p:spPr>
          <a:xfrm>
            <a:off x="3143644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17"/>
          <p:cNvSpPr/>
          <p:nvPr/>
        </p:nvSpPr>
        <p:spPr>
          <a:xfrm>
            <a:off x="3311547" y="6501384"/>
            <a:ext cx="41148" cy="41148"/>
          </a:xfrm>
          <a:prstGeom prst="ellipse">
            <a:avLst/>
          </a:prstGeom>
          <a:solidFill>
            <a:srgbClr val="20B6F3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17"/>
          <p:cNvSpPr/>
          <p:nvPr/>
        </p:nvSpPr>
        <p:spPr>
          <a:xfrm>
            <a:off x="3479450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17"/>
          <p:cNvSpPr/>
          <p:nvPr/>
        </p:nvSpPr>
        <p:spPr>
          <a:xfrm>
            <a:off x="3647352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17"/>
          <p:cNvSpPr/>
          <p:nvPr/>
        </p:nvSpPr>
        <p:spPr>
          <a:xfrm>
            <a:off x="3815255" y="6501384"/>
            <a:ext cx="41148" cy="41148"/>
          </a:xfrm>
          <a:prstGeom prst="ellipse">
            <a:avLst/>
          </a:prstGeom>
          <a:solidFill>
            <a:srgbClr val="20B6F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7"/>
          <p:cNvSpPr/>
          <p:nvPr/>
        </p:nvSpPr>
        <p:spPr>
          <a:xfrm>
            <a:off x="3983158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17"/>
          <p:cNvSpPr/>
          <p:nvPr/>
        </p:nvSpPr>
        <p:spPr>
          <a:xfrm>
            <a:off x="4151061" y="6501384"/>
            <a:ext cx="41148" cy="41148"/>
          </a:xfrm>
          <a:prstGeom prst="ellipse">
            <a:avLst/>
          </a:prstGeom>
          <a:solidFill>
            <a:srgbClr val="20B6F3">
              <a:alpha val="2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17"/>
          <p:cNvSpPr/>
          <p:nvPr/>
        </p:nvSpPr>
        <p:spPr>
          <a:xfrm>
            <a:off x="4318963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17"/>
          <p:cNvSpPr/>
          <p:nvPr/>
        </p:nvSpPr>
        <p:spPr>
          <a:xfrm>
            <a:off x="4486866" y="6501384"/>
            <a:ext cx="41148" cy="41148"/>
          </a:xfrm>
          <a:prstGeom prst="ellipse">
            <a:avLst/>
          </a:prstGeom>
          <a:solidFill>
            <a:srgbClr val="20B6F3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17"/>
          <p:cNvSpPr/>
          <p:nvPr/>
        </p:nvSpPr>
        <p:spPr>
          <a:xfrm>
            <a:off x="4654769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17"/>
          <p:cNvSpPr/>
          <p:nvPr/>
        </p:nvSpPr>
        <p:spPr>
          <a:xfrm>
            <a:off x="4822672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7"/>
          <p:cNvSpPr/>
          <p:nvPr/>
        </p:nvSpPr>
        <p:spPr>
          <a:xfrm>
            <a:off x="4990574" y="6501384"/>
            <a:ext cx="41148" cy="41148"/>
          </a:xfrm>
          <a:prstGeom prst="ellipse">
            <a:avLst/>
          </a:prstGeom>
          <a:solidFill>
            <a:srgbClr val="20B6F3">
              <a:alpha val="2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17"/>
          <p:cNvSpPr/>
          <p:nvPr/>
        </p:nvSpPr>
        <p:spPr>
          <a:xfrm>
            <a:off x="5158477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17"/>
          <p:cNvSpPr/>
          <p:nvPr/>
        </p:nvSpPr>
        <p:spPr>
          <a:xfrm>
            <a:off x="5326380" y="6501384"/>
            <a:ext cx="41148" cy="41148"/>
          </a:xfrm>
          <a:prstGeom prst="ellipse">
            <a:avLst/>
          </a:prstGeom>
          <a:solidFill>
            <a:srgbClr val="20B6F3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17"/>
          <p:cNvSpPr/>
          <p:nvPr/>
        </p:nvSpPr>
        <p:spPr>
          <a:xfrm>
            <a:off x="5494283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17"/>
          <p:cNvSpPr/>
          <p:nvPr/>
        </p:nvSpPr>
        <p:spPr>
          <a:xfrm>
            <a:off x="5662186" y="6501384"/>
            <a:ext cx="41148" cy="41148"/>
          </a:xfrm>
          <a:prstGeom prst="ellipse">
            <a:avLst/>
          </a:prstGeom>
          <a:solidFill>
            <a:srgbClr val="20B6F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17"/>
          <p:cNvSpPr/>
          <p:nvPr/>
        </p:nvSpPr>
        <p:spPr>
          <a:xfrm>
            <a:off x="5830088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7"/>
          <p:cNvSpPr/>
          <p:nvPr/>
        </p:nvSpPr>
        <p:spPr>
          <a:xfrm>
            <a:off x="5997991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17"/>
          <p:cNvSpPr/>
          <p:nvPr/>
        </p:nvSpPr>
        <p:spPr>
          <a:xfrm>
            <a:off x="6165894" y="6501384"/>
            <a:ext cx="41148" cy="41148"/>
          </a:xfrm>
          <a:prstGeom prst="ellipse">
            <a:avLst/>
          </a:prstGeom>
          <a:solidFill>
            <a:srgbClr val="20B6F3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17"/>
          <p:cNvSpPr/>
          <p:nvPr/>
        </p:nvSpPr>
        <p:spPr>
          <a:xfrm>
            <a:off x="6333797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7"/>
          <p:cNvSpPr/>
          <p:nvPr/>
        </p:nvSpPr>
        <p:spPr>
          <a:xfrm>
            <a:off x="6501699" y="6501384"/>
            <a:ext cx="41148" cy="41148"/>
          </a:xfrm>
          <a:prstGeom prst="ellipse">
            <a:avLst/>
          </a:prstGeom>
          <a:solidFill>
            <a:srgbClr val="20B6F3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7"/>
          <p:cNvSpPr/>
          <p:nvPr/>
        </p:nvSpPr>
        <p:spPr>
          <a:xfrm>
            <a:off x="6669602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17"/>
          <p:cNvSpPr/>
          <p:nvPr/>
        </p:nvSpPr>
        <p:spPr>
          <a:xfrm>
            <a:off x="6837505" y="6501384"/>
            <a:ext cx="41148" cy="41148"/>
          </a:xfrm>
          <a:prstGeom prst="ellipse">
            <a:avLst/>
          </a:prstGeom>
          <a:solidFill>
            <a:srgbClr val="20B6F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7"/>
          <p:cNvSpPr/>
          <p:nvPr/>
        </p:nvSpPr>
        <p:spPr>
          <a:xfrm>
            <a:off x="7005408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7"/>
          <p:cNvSpPr/>
          <p:nvPr/>
        </p:nvSpPr>
        <p:spPr>
          <a:xfrm>
            <a:off x="7173310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17"/>
          <p:cNvSpPr/>
          <p:nvPr/>
        </p:nvSpPr>
        <p:spPr>
          <a:xfrm>
            <a:off x="7341213" y="6501384"/>
            <a:ext cx="41148" cy="41148"/>
          </a:xfrm>
          <a:prstGeom prst="ellipse">
            <a:avLst/>
          </a:prstGeom>
          <a:solidFill>
            <a:srgbClr val="20B6F3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17"/>
          <p:cNvSpPr/>
          <p:nvPr/>
        </p:nvSpPr>
        <p:spPr>
          <a:xfrm>
            <a:off x="7509116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17"/>
          <p:cNvSpPr/>
          <p:nvPr/>
        </p:nvSpPr>
        <p:spPr>
          <a:xfrm>
            <a:off x="7677019" y="6501384"/>
            <a:ext cx="41148" cy="41148"/>
          </a:xfrm>
          <a:prstGeom prst="ellipse">
            <a:avLst/>
          </a:prstGeom>
          <a:solidFill>
            <a:srgbClr val="20B6F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17"/>
          <p:cNvSpPr/>
          <p:nvPr/>
        </p:nvSpPr>
        <p:spPr>
          <a:xfrm>
            <a:off x="7844921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7"/>
          <p:cNvSpPr/>
          <p:nvPr/>
        </p:nvSpPr>
        <p:spPr>
          <a:xfrm>
            <a:off x="8012824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17"/>
          <p:cNvSpPr/>
          <p:nvPr/>
        </p:nvSpPr>
        <p:spPr>
          <a:xfrm>
            <a:off x="8180727" y="6501384"/>
            <a:ext cx="41148" cy="41148"/>
          </a:xfrm>
          <a:prstGeom prst="ellipse">
            <a:avLst/>
          </a:prstGeom>
          <a:solidFill>
            <a:srgbClr val="20B6F3">
              <a:alpha val="1882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7"/>
          <p:cNvSpPr/>
          <p:nvPr/>
        </p:nvSpPr>
        <p:spPr>
          <a:xfrm>
            <a:off x="8348630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7"/>
          <p:cNvSpPr/>
          <p:nvPr/>
        </p:nvSpPr>
        <p:spPr>
          <a:xfrm>
            <a:off x="8516532" y="6501384"/>
            <a:ext cx="41148" cy="41148"/>
          </a:xfrm>
          <a:prstGeom prst="ellipse">
            <a:avLst/>
          </a:prstGeom>
          <a:solidFill>
            <a:srgbClr val="20B6F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7"/>
          <p:cNvSpPr/>
          <p:nvPr/>
        </p:nvSpPr>
        <p:spPr>
          <a:xfrm>
            <a:off x="8684435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17"/>
          <p:cNvSpPr/>
          <p:nvPr/>
        </p:nvSpPr>
        <p:spPr>
          <a:xfrm>
            <a:off x="8852338" y="6501384"/>
            <a:ext cx="41148" cy="41148"/>
          </a:xfrm>
          <a:prstGeom prst="ellipse">
            <a:avLst/>
          </a:prstGeom>
          <a:solidFill>
            <a:srgbClr val="20B6F3">
              <a:alpha val="1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17"/>
          <p:cNvSpPr/>
          <p:nvPr/>
        </p:nvSpPr>
        <p:spPr>
          <a:xfrm>
            <a:off x="9020241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7"/>
          <p:cNvSpPr/>
          <p:nvPr/>
        </p:nvSpPr>
        <p:spPr>
          <a:xfrm>
            <a:off x="9188143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7"/>
          <p:cNvSpPr/>
          <p:nvPr/>
        </p:nvSpPr>
        <p:spPr>
          <a:xfrm>
            <a:off x="9356046" y="6501384"/>
            <a:ext cx="41148" cy="41148"/>
          </a:xfrm>
          <a:prstGeom prst="ellipse">
            <a:avLst/>
          </a:prstGeom>
          <a:solidFill>
            <a:srgbClr val="20B6F3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7"/>
          <p:cNvSpPr/>
          <p:nvPr/>
        </p:nvSpPr>
        <p:spPr>
          <a:xfrm>
            <a:off x="9523949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7"/>
          <p:cNvSpPr/>
          <p:nvPr/>
        </p:nvSpPr>
        <p:spPr>
          <a:xfrm>
            <a:off x="9691852" y="6501384"/>
            <a:ext cx="41148" cy="41148"/>
          </a:xfrm>
          <a:prstGeom prst="ellipse">
            <a:avLst/>
          </a:prstGeom>
          <a:solidFill>
            <a:srgbClr val="20B6F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7"/>
          <p:cNvSpPr/>
          <p:nvPr/>
        </p:nvSpPr>
        <p:spPr>
          <a:xfrm>
            <a:off x="9859754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7"/>
          <p:cNvSpPr/>
          <p:nvPr/>
        </p:nvSpPr>
        <p:spPr>
          <a:xfrm>
            <a:off x="10027657" y="6501384"/>
            <a:ext cx="41148" cy="41148"/>
          </a:xfrm>
          <a:prstGeom prst="ellipse">
            <a:avLst/>
          </a:prstGeom>
          <a:solidFill>
            <a:srgbClr val="20B6F3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7"/>
          <p:cNvSpPr/>
          <p:nvPr/>
        </p:nvSpPr>
        <p:spPr>
          <a:xfrm>
            <a:off x="10195560" y="6501384"/>
            <a:ext cx="41148" cy="41148"/>
          </a:xfrm>
          <a:prstGeom prst="ellipse">
            <a:avLst/>
          </a:prstGeom>
          <a:solidFill>
            <a:srgbClr val="20B6F3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7"/>
          <p:cNvSpPr/>
          <p:nvPr/>
        </p:nvSpPr>
        <p:spPr>
          <a:xfrm>
            <a:off x="10378440" y="626364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4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417"/>
                </a:solidFill>
                <a:latin typeface="Arial"/>
                <a:ea typeface="Arial"/>
                <a:cs typeface="Arial"/>
                <a:sym typeface="Arial"/>
              </a:rPr>
              <a:t>XERO</a:t>
            </a:r>
            <a:r>
              <a:rPr b="1" i="0" lang="en-US" sz="1400" u="none" cap="none" strike="noStrike">
                <a:solidFill>
                  <a:srgbClr val="20B6F3"/>
                </a:solidFill>
                <a:latin typeface="Arial"/>
                <a:ea typeface="Arial"/>
                <a:cs typeface="Arial"/>
                <a:sym typeface="Arial"/>
              </a:rPr>
              <a:t>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